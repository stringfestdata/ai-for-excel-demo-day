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2" r:id="rId23"/>
    <p:sldId id="273" r:id="rId24"/>
    <p:sldId id="264" r:id="rId10"/>
    <p:sldId id="265" r:id="rId11"/>
    <p:sldId id="266" r:id="rId12"/>
    <p:sldId id="270" r:id="rId21"/>
    <p:sldId id="267" r:id="rId13"/>
    <p:sldId id="271" r:id="rId22"/>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Thank attendees for showing up to a free hour. Set the tone: this is the most basic intro to AI in Excel you'll hear -- on purpose. By the end they'll know what to try Monday morning and what to ignore. Promise three things: a live demo, a real dataset, and an honest moment where AI gets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blunt about scope. Reading the IS NOT list out loud earns trust. "We're not doing Claude. Not doing skills, agents, custom GPTs. We're not even looking at Python in Excel today. Those are all great -- they're just next month's webinar, not this one." Soft tease at the end: "If you want the rest of that road, stay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Excel. Show the actual table. Scroll to the bottom -- 440 rows. Walk the headers out loud: Channel, Region, then six product spend columns. Plant the seed: "Channel here is a 1 or a 2. Region is a 1, 2, or 3. And there's no column called 'sales' -- there are six. Hold that thought." Do NOT explain why this matters yet. Let them watch it bite in the next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Analyze Data as the on-ramp. "This has been in Excel for years. Most people have never clicked it. It's the closest thing to ChatGPT that's already in your ribbon." Set up the demo: "I'm going to ask it a question you'd ask a colleague, and we'll see what it does." Keep this short -- the payoff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This is THE moment of the webinar -- don't rush it. Click into the table, Home, Analyze Data. In the natural-language box type exactly: Find total sales by channel. Whatever it returns, read it back out loud as if you trust it. THEN catch yourself: "Wait. Sum of Channel? Average of Channel? That number is meaningless -- Channel was just a code." Land the line on the slide: "Confident. Specific. Wrong." If Analyze Data refuses or returns nothing useful, that's also a great outcome: "see, it just gave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Walk the three numbered points slowly. (1) Channel is a number -- the tool has no idea 1 means HoReCa and 2 means Retail. (2) There is no 'sales' column to grab -- total sales is something we'd have to build. (3) Wide format. Six values per row. The tool doesn't know it should add all six. Reframe: "The data isn't broken -- but it isn't in the shape a machine can reason about. That's a fixable problem, but the AI can't fix it by guessing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#2. Switch to Copilot (or whichever chat tool you're showcasing). Paste the prompt from the slide. Read it out loud and note carefully: you're not asking it to do the work yet -- just to explain why the work is hard. When Copilot answers, narrate: "This is the bigger model. It can read the shape of the data and reason about it." Highlight the three things it tells you back: label the codes, unpivot the spend columns, build the fix in Power Query. Important framing: the LLM gave us a plan, not an answer. The plan is the deliverable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#3. The big one. Open Power Query Editor on the wholesale table. Step 1: Replace Values on Channel (1 -&gt; HoReCa, 2 -&gt; Retail). Do Region too if you want to show it twice. Step 2: Select the six spend columns -&gt; Transform -&gt; Unpivot Columns. Watch the table tip from wide to tall. Step 3: Close and Load. Drop a PivotTable on the new data. Rows: Channel. Values: Sum of Value. Two rows. Real numbers. Real labels. Optional: re-ask Analyze Data the same question on the cleaned table -- it nails it now. Punch line: "Same data, same question, same Excel. The difference is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takeaway -- slow down. Probabilistic: anything that involves a language model -- Analyze Data, Copilot, Claude, ChatGPT. Helpful, fast, sometimes wrong. Deterministic: Power Query, formulas, PivotTables, VBA. Boring. Auditable. Same answer every refresh. Read the closing line off the slide: "Use the probabilistic tool to plan. Use the deterministic tool to ship." This is the one line you want them to remember on Monday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the source: Microsoft's "Art and science of prompting" one-pager. Four ingredients, every time. Goal -- what response do you want? Context -- why and who's involved? Source -- which file, sheet, or range should it look at? Expectations -- format, length, tone, things to avoid. Land the punch line: "Most bad AI answers come from a prompt missing at least two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GOOD prompt first. Read it. Pause. Ask the room: "What's missing?" -- it's vague, and it's fighting a messy table. Then the GREAT prompt, and this is the teaching moment: it runs on the CLEANED table from the Power Query step, and it spells out all four ingredients of the recipe. Point to each label as you read: CONTEXT (the channel-strategy review -- the business why), GOAL (total Spend by Channel), SOURCE (the cleaned wholesale table), EXPECTATIONS (two-row table, whole dollars, largest first). Make the key distinction: the Context is the one thing clean data can NEVER give you -- the model can't know why you're asking. The other three got short because the data is tidy. This is the by-the-book version, all four ingredients, one sentence. Tee up the next slide: 'and in real life you don't spell out all four every time -- here's when you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list. Read each pill out loud. Each one is a future webinar or product. Close on the red bar: "Keep following -- we'll get to all of it. Today was just the doorway." Pause. If you're collecting names, plug the newsletter or mailing list verbally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 pivot to the book. This is the ONE plug -- make it count. "If today's Power Query step felt like the part you wanted to slow down on -- that's the book." Frame it as the deterministic-skills foundation: AI is most powerful for analysts who can already wrangle data the boring way. Say the URL out loud: stringfestanalytics.com/maxl. Don't oversell. One mention.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Have the takeaway PDF link ready to drop in chat. If there's silence, prime with: "The question I get most is -- should I be using Copilot or ChatGPT for Excel?" -- then answer it. End on time.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(optional) or talk-through. This is the payoff of cleaning the data: the questions get conversational. Re-ask on the CLEANED table and just keep going -- break it down by Category, rank Regions, compare Fresh vs Grocery. Point out what is NOT in these prompts: no '1 = HoReCa', no list of six columns. The clean table carries all of that, so you can think out loud. Land the analogy slowly: GCSE (Goal, Context, Source, Expectations) is training wheels. Starting out, hit all four every time. As you get fluent you drop the ones the data already makes obvious -- the way you stop conjugating every verb in your head once you can actually speak the language. The recipe never goes away; reach back for it whenever an answer comes back wrong. Close warm, then move to 'what we did not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CTA. Say it plainly and warmly, do not mumble it. "This whole session was recorded. If you want the recording, it lives in my membership, the Modern Excel AI Stack." Make the value concrete: it's ten dollars a month, you get today's recording, the full back catalog to binge, and every new workshop as it lands, and you can cancel anytime. Tie it back to the previous slide: 'everything I just said we did NOT cover today, that is what is in there.' Drop the link in the chat: stringfestdata.gumroad.com/l/mxlais. One clear ask, then move to the thank-you slide. Do not over-apologize for selling, it is a fair ten-dollar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or talk-through. After you build the query by clicking, open the Advanced Editor and copy the M. Paste it into Copilot or Claude and ask it to comment each step and flag anything fragile. Read the comments back: this is the moment analysts who are scared of code relax, because the AI is annotating THEIR working query, not replacing it. Hit the fragile flag out loud (the unpivot sweeps in any new column) so they see the audit value. Key line: the code still runs the same every refresh; AI just made it legible.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move, and label it as advanced. Instead of clicking, describe the transform in plain English and ask for the M, then paste it into the Advanced Editor. Show the result, then give the honest caution: you own this output, read it before you trust it, one bad line breaks the refresh. Reassure the room that the point-and-click path from two slides ago is still the safe default; this is just how far it can go once you are comfortable.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stringfestanalytics.com/maxl/"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stringfestanalytics.com/maxl/"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stringfestdata.gumroad.com/l/mxlais" TargetMode="External"/><Relationship Id="rId3" Type="http://schemas.openxmlformats.org/officeDocument/2006/relationships/notesSlide" Target="../notesSlides/notesSlide16.xml"/><Relationship Id="rId4" Type="http://schemas.openxmlformats.org/officeDocument/2006/relationships/image" Target="../media/image-membership.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365760" y="228600"/>
            <a:ext cx="3657600" cy="365760"/>
          </a:xfrm>
          <a:prstGeom prst="rect">
            <a:avLst/>
          </a:prstGeom>
          <a:noFill/>
          <a:ln/>
        </p:spPr>
        <p:txBody>
          <a:bodyPr wrap="square" lIns="0" tIns="0" rIns="0" bIns="0" rtlCol="0" anchor="ctr"/>
          <a:lstStyle/>
          <a:p>
            <a:pPr indent="0" marL="0">
              <a:buNone/>
            </a:pPr>
            <a:r>
              <a:rPr lang="en-US" sz="1400" b="1" spc="400" kern="0" dirty="0">
                <a:solidFill>
                  <a:srgbClr val="1F2120"/>
                </a:solidFill>
                <a:latin typeface="Arial Black" pitchFamily="34" charset="0"/>
                <a:ea typeface="Arial Black" pitchFamily="34" charset="-122"/>
                <a:cs typeface="Arial Black" pitchFamily="34" charset="-120"/>
              </a:rPr>
              <a:t>STRINGFEST</a:t>
            </a:r>
            <a:pPr indent="0" marL="0">
              <a:buNone/>
            </a:pPr>
            <a:r>
              <a:rPr lang="en-US" sz="1400" b="1" spc="400" kern="0" dirty="0">
                <a:solidFill>
                  <a:srgbClr val="CF3338"/>
                </a:solidFill>
                <a:latin typeface="Arial" pitchFamily="34" charset="0"/>
                <a:ea typeface="Arial" pitchFamily="34" charset="-122"/>
                <a:cs typeface="Arial" pitchFamily="34" charset="-120"/>
              </a:rPr>
              <a:t> ANALYTICS</a:t>
            </a:r>
            <a:endParaRPr lang="en-US" sz="1400" dirty="0"/>
          </a:p>
        </p:txBody>
      </p:sp>
      <p:sp>
        <p:nvSpPr>
          <p:cNvPr id="3" name="Shape 1"/>
          <p:cNvSpPr/>
          <p:nvPr/>
        </p:nvSpPr>
        <p:spPr>
          <a:xfrm>
            <a:off x="0" y="1097280"/>
            <a:ext cx="164592" cy="3108960"/>
          </a:xfrm>
          <a:prstGeom prst="rect">
            <a:avLst/>
          </a:prstGeom>
          <a:solidFill>
            <a:srgbClr val="CF3338"/>
          </a:solidFill>
          <a:ln w="12700">
            <a:solidFill>
              <a:srgbClr val="CF3338"/>
            </a:solidFill>
            <a:prstDash val="solid"/>
          </a:ln>
        </p:spPr>
      </p:sp>
      <p:sp>
        <p:nvSpPr>
          <p:cNvPr id="4" name="Text 2"/>
          <p:cNvSpPr/>
          <p:nvPr/>
        </p:nvSpPr>
        <p:spPr>
          <a:xfrm>
            <a:off x="457200" y="1097280"/>
            <a:ext cx="7315200" cy="914400"/>
          </a:xfrm>
          <a:prstGeom prst="rect">
            <a:avLst/>
          </a:prstGeom>
          <a:noFill/>
          <a:ln/>
        </p:spPr>
        <p:txBody>
          <a:bodyPr wrap="square" lIns="0" tIns="0" rIns="0" bIns="0" rtlCol="0" anchor="ctr"/>
          <a:lstStyle/>
          <a:p>
            <a:pPr indent="0" marL="0">
              <a:buNone/>
            </a:pPr>
            <a:r>
              <a:rPr lang="en-US" sz="5400" b="1" dirty="0">
                <a:solidFill>
                  <a:srgbClr val="CF3338"/>
                </a:solidFill>
                <a:latin typeface="Arial Black" pitchFamily="34" charset="0"/>
                <a:ea typeface="Arial Black" pitchFamily="34" charset="-122"/>
                <a:cs typeface="Arial Black" pitchFamily="34" charset="-120"/>
              </a:rPr>
              <a:t>AI for Excel</a:t>
            </a:r>
            <a:endParaRPr lang="en-US" sz="5400" dirty="0"/>
          </a:p>
        </p:txBody>
      </p:sp>
      <p:sp>
        <p:nvSpPr>
          <p:cNvPr id="5" name="Text 3"/>
          <p:cNvSpPr/>
          <p:nvPr/>
        </p:nvSpPr>
        <p:spPr>
          <a:xfrm>
            <a:off x="457200" y="1920240"/>
            <a:ext cx="7315200" cy="822960"/>
          </a:xfrm>
          <a:prstGeom prst="rect">
            <a:avLst/>
          </a:prstGeom>
          <a:noFill/>
          <a:ln/>
        </p:spPr>
        <p:txBody>
          <a:bodyPr wrap="square" lIns="0" tIns="0" rIns="0" bIns="0" rtlCol="0" anchor="ctr"/>
          <a:lstStyle/>
          <a:p>
            <a:pPr indent="0" marL="0">
              <a:buNone/>
            </a:pPr>
            <a:r>
              <a:rPr lang="en-US" sz="5400" b="1" dirty="0">
                <a:solidFill>
                  <a:srgbClr val="1F2120"/>
                </a:solidFill>
                <a:latin typeface="Arial Black" pitchFamily="34" charset="0"/>
                <a:ea typeface="Arial Black" pitchFamily="34" charset="-122"/>
                <a:cs typeface="Arial Black" pitchFamily="34" charset="-120"/>
              </a:rPr>
              <a:t>Demo Day</a:t>
            </a:r>
            <a:endParaRPr lang="en-US" sz="5400" dirty="0"/>
          </a:p>
        </p:txBody>
      </p:sp>
      <p:sp>
        <p:nvSpPr>
          <p:cNvPr id="6" name="Text 4"/>
          <p:cNvSpPr/>
          <p:nvPr/>
        </p:nvSpPr>
        <p:spPr>
          <a:xfrm>
            <a:off x="457200" y="2834640"/>
            <a:ext cx="7772400" cy="548640"/>
          </a:xfrm>
          <a:prstGeom prst="rect">
            <a:avLst/>
          </a:prstGeom>
          <a:noFill/>
          <a:ln/>
        </p:spPr>
        <p:txBody>
          <a:bodyPr wrap="square" lIns="0" tIns="0" rIns="0" bIns="0" rtlCol="0" anchor="ctr"/>
          <a:lstStyle/>
          <a:p>
            <a:pPr indent="0" marL="0">
              <a:buNone/>
            </a:pPr>
            <a:r>
              <a:rPr lang="en-US" sz="1800" dirty="0">
                <a:solidFill>
                  <a:srgbClr val="707070"/>
                </a:solidFill>
                <a:latin typeface="Arial" pitchFamily="34" charset="0"/>
                <a:ea typeface="Arial" pitchFamily="34" charset="-122"/>
                <a:cs typeface="Arial" pitchFamily="34" charset="-120"/>
              </a:rPr>
              <a:t>A one-hour, hands-on look at what AI can (and can't) do inside Excel.</a:t>
            </a:r>
            <a:endParaRPr lang="en-US" sz="1800" dirty="0"/>
          </a:p>
        </p:txBody>
      </p:sp>
      <p:sp>
        <p:nvSpPr>
          <p:cNvPr id="7" name="Text 5"/>
          <p:cNvSpPr/>
          <p:nvPr/>
        </p:nvSpPr>
        <p:spPr>
          <a:xfrm>
            <a:off x="457200" y="3931920"/>
            <a:ext cx="7315200" cy="365760"/>
          </a:xfrm>
          <a:prstGeom prst="rect">
            <a:avLst/>
          </a:prstGeom>
          <a:noFill/>
          <a:ln/>
        </p:spPr>
        <p:txBody>
          <a:bodyPr wrap="square" rtlCol="0" anchor="ctr"/>
          <a:lstStyle/>
          <a:p>
            <a:pPr indent="0" marL="0">
              <a:buNone/>
            </a:pPr>
            <a:r>
              <a:rPr lang="en-US" sz="1400" b="1" dirty="0">
                <a:solidFill>
                  <a:srgbClr val="1F2120"/>
                </a:solidFill>
                <a:latin typeface="Arial" pitchFamily="34" charset="0"/>
                <a:ea typeface="Arial" pitchFamily="34" charset="-122"/>
                <a:cs typeface="Arial" pitchFamily="34" charset="-120"/>
              </a:rPr>
              <a:t>George Mount  ·  Stringfest Analytics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200" b="1" dirty="0">
                <a:solidFill>
                  <a:srgbClr val="1F2120"/>
                </a:solidFill>
                <a:latin typeface="Arial Black" pitchFamily="34" charset="0"/>
                <a:ea typeface="Arial Black" pitchFamily="34" charset="-122"/>
                <a:cs typeface="Arial Black" pitchFamily="34" charset="-120"/>
              </a:rPr>
              <a:t>What this hour is (and isn't)</a:t>
            </a:r>
            <a:endParaRPr lang="en-US" sz="3200" dirty="0"/>
          </a:p>
        </p:txBody>
      </p:sp>
      <p:sp>
        <p:nvSpPr>
          <p:cNvPr id="3" name="Shape 1"/>
          <p:cNvSpPr/>
          <p:nvPr/>
        </p:nvSpPr>
        <p:spPr>
          <a:xfrm>
            <a:off x="457200" y="1188720"/>
            <a:ext cx="3931920" cy="3291840"/>
          </a:xfrm>
          <a:prstGeom prst="rect">
            <a:avLst/>
          </a:prstGeom>
          <a:solidFill>
            <a:srgbClr val="FFFFFF"/>
          </a:solidFill>
          <a:ln w="19050">
            <a:solidFill>
              <a:srgbClr val="CF3338"/>
            </a:solidFill>
            <a:prstDash val="solid"/>
          </a:ln>
        </p:spPr>
      </p:sp>
      <p:sp>
        <p:nvSpPr>
          <p:cNvPr id="4" name="Shape 2"/>
          <p:cNvSpPr/>
          <p:nvPr/>
        </p:nvSpPr>
        <p:spPr>
          <a:xfrm>
            <a:off x="457200" y="1188720"/>
            <a:ext cx="3931920" cy="457200"/>
          </a:xfrm>
          <a:prstGeom prst="rect">
            <a:avLst/>
          </a:prstGeom>
          <a:solidFill>
            <a:srgbClr val="CF3338"/>
          </a:solidFill>
          <a:ln w="12700">
            <a:solidFill>
              <a:srgbClr val="CF3338"/>
            </a:solidFill>
            <a:prstDash val="solid"/>
          </a:ln>
        </p:spPr>
      </p:sp>
      <p:sp>
        <p:nvSpPr>
          <p:cNvPr id="5" name="Text 3"/>
          <p:cNvSpPr/>
          <p:nvPr/>
        </p:nvSpPr>
        <p:spPr>
          <a:xfrm>
            <a:off x="457200" y="1188720"/>
            <a:ext cx="3931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This hour IS</a:t>
            </a:r>
            <a:endParaRPr lang="en-US" sz="1600" dirty="0"/>
          </a:p>
        </p:txBody>
      </p:sp>
      <p:sp>
        <p:nvSpPr>
          <p:cNvPr id="6" name="Text 4"/>
          <p:cNvSpPr/>
          <p:nvPr/>
        </p:nvSpPr>
        <p:spPr>
          <a:xfrm>
            <a:off x="685800" y="1828800"/>
            <a:ext cx="3566160" cy="2560320"/>
          </a:xfrm>
          <a:prstGeom prst="rect">
            <a:avLst/>
          </a:prstGeom>
          <a:noFill/>
          <a:ln/>
        </p:spPr>
        <p:txBody>
          <a:bodyPr wrap="square" rtlCol="0" anchor="ctr"/>
          <a:lstStyle/>
          <a:p>
            <a:pPr marL="342900" indent="-3429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A first taste of AI in Excel</a:t>
            </a:r>
            <a:endParaRPr lang="en-US" sz="1400" dirty="0"/>
          </a:p>
          <a:p>
            <a:pPr marL="342900" indent="-3429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Live demo with a real dataset</a:t>
            </a:r>
            <a:endParaRPr lang="en-US" sz="1400" dirty="0"/>
          </a:p>
          <a:p>
            <a:pPr marL="342900" indent="-3429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Honest about what breaks</a:t>
            </a:r>
            <a:endParaRPr lang="en-US" sz="1400" dirty="0"/>
          </a:p>
          <a:p>
            <a:pPr marL="342900" indent="-3429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A mental model you can keep</a:t>
            </a:r>
            <a:endParaRPr lang="en-US" sz="1400" dirty="0"/>
          </a:p>
        </p:txBody>
      </p:sp>
      <p:sp>
        <p:nvSpPr>
          <p:cNvPr id="7" name="Shape 5"/>
          <p:cNvSpPr/>
          <p:nvPr/>
        </p:nvSpPr>
        <p:spPr>
          <a:xfrm>
            <a:off x="4754880" y="1188720"/>
            <a:ext cx="3931920" cy="3291840"/>
          </a:xfrm>
          <a:prstGeom prst="rect">
            <a:avLst/>
          </a:prstGeom>
          <a:solidFill>
            <a:srgbClr val="FFFFFF"/>
          </a:solidFill>
          <a:ln w="19050">
            <a:solidFill>
              <a:srgbClr val="707070"/>
            </a:solidFill>
            <a:prstDash val="solid"/>
          </a:ln>
        </p:spPr>
      </p:sp>
      <p:sp>
        <p:nvSpPr>
          <p:cNvPr id="8" name="Shape 6"/>
          <p:cNvSpPr/>
          <p:nvPr/>
        </p:nvSpPr>
        <p:spPr>
          <a:xfrm>
            <a:off x="4754880" y="1188720"/>
            <a:ext cx="3931920" cy="457200"/>
          </a:xfrm>
          <a:prstGeom prst="rect">
            <a:avLst/>
          </a:prstGeom>
          <a:solidFill>
            <a:srgbClr val="1F2120"/>
          </a:solidFill>
          <a:ln w="12700">
            <a:solidFill>
              <a:srgbClr val="1F2120"/>
            </a:solidFill>
            <a:prstDash val="solid"/>
          </a:ln>
        </p:spPr>
      </p:sp>
      <p:sp>
        <p:nvSpPr>
          <p:cNvPr id="9" name="Text 7"/>
          <p:cNvSpPr/>
          <p:nvPr/>
        </p:nvSpPr>
        <p:spPr>
          <a:xfrm>
            <a:off x="4754880" y="1188720"/>
            <a:ext cx="3931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This hour IS NOT</a:t>
            </a:r>
            <a:endParaRPr lang="en-US" sz="1600" dirty="0"/>
          </a:p>
        </p:txBody>
      </p:sp>
      <p:sp>
        <p:nvSpPr>
          <p:cNvPr id="10" name="Text 8"/>
          <p:cNvSpPr/>
          <p:nvPr/>
        </p:nvSpPr>
        <p:spPr>
          <a:xfrm>
            <a:off x="4983480" y="1828800"/>
            <a:ext cx="3566160" cy="2560320"/>
          </a:xfrm>
          <a:prstGeom prst="rect">
            <a:avLst/>
          </a:prstGeom>
          <a:noFill/>
          <a:ln/>
        </p:spPr>
        <p:txBody>
          <a:bodyPr wrap="square" rtlCol="0" anchor="ctr"/>
          <a:lstStyle/>
          <a:p>
            <a:pPr marL="342900" indent="-3429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A deep dive on Claude or ChatGPT</a:t>
            </a:r>
            <a:endParaRPr lang="en-US" sz="1400" dirty="0"/>
          </a:p>
          <a:p>
            <a:pPr marL="342900" indent="-3429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Skills, agents, or system prompts</a:t>
            </a:r>
            <a:endParaRPr lang="en-US" sz="1400" dirty="0"/>
          </a:p>
          <a:p>
            <a:pPr marL="342900" indent="-3429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Custom GPT / API building</a:t>
            </a:r>
            <a:endParaRPr lang="en-US" sz="1400" dirty="0"/>
          </a:p>
          <a:p>
            <a:pPr marL="342900" indent="-3429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The last AI-in-Excel session you'll need</a:t>
            </a:r>
            <a:endParaRPr lang="en-US" sz="1400" dirty="0"/>
          </a:p>
        </p:txBody>
      </p:sp>
      <p:sp>
        <p:nvSpPr>
          <p:cNvPr id="11" name="Text 9"/>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F2120"/>
                </a:solidFill>
                <a:latin typeface="Arial Black" pitchFamily="34" charset="0"/>
                <a:ea typeface="Arial Black" pitchFamily="34" charset="-122"/>
                <a:cs typeface="Arial Black" pitchFamily="34" charset="-120"/>
              </a:rPr>
              <a:t>Today's dataset: wholesale customers</a:t>
            </a:r>
            <a:endParaRPr lang="en-US" sz="3000" dirty="0"/>
          </a:p>
        </p:txBody>
      </p:sp>
      <p:sp>
        <p:nvSpPr>
          <p:cNvPr id="3" name="Text 1"/>
          <p:cNvSpPr/>
          <p:nvPr/>
        </p:nvSpPr>
        <p:spPr>
          <a:xfrm>
            <a:off x="457200" y="960120"/>
            <a:ext cx="8229600" cy="365760"/>
          </a:xfrm>
          <a:prstGeom prst="rect">
            <a:avLst/>
          </a:prstGeom>
          <a:noFill/>
          <a:ln/>
        </p:spPr>
        <p:txBody>
          <a:bodyPr wrap="square" lIns="0" tIns="0" rIns="0" bIns="0" rtlCol="0" anchor="ctr"/>
          <a:lstStyle/>
          <a:p>
            <a:pPr indent="0" marL="0">
              <a:buNone/>
            </a:pPr>
            <a:r>
              <a:rPr lang="en-US" sz="1400" i="1" dirty="0">
                <a:solidFill>
                  <a:srgbClr val="707070"/>
                </a:solidFill>
                <a:latin typeface="Arial" pitchFamily="34" charset="0"/>
                <a:ea typeface="Arial" pitchFamily="34" charset="-122"/>
                <a:cs typeface="Arial" pitchFamily="34" charset="-120"/>
              </a:rPr>
              <a:t>440 customers · 8 columns · annual spend across 6 product categories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868680"/>
                <a:gridCol w="777240"/>
                <a:gridCol w="1097280"/>
                <a:gridCol w="1005840"/>
                <a:gridCol w="1143000"/>
                <a:gridCol w="1005840"/>
                <a:gridCol w="1234440"/>
                <a:gridCol w="1097280"/>
              </a:tblGrid>
              <a:tr h="292608">
                <a:tc>
                  <a:txBody>
                    <a:bodyP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Channel</a:t>
                      </a:r>
                      <a:endParaRPr lang="en-US" sz="1100" dirty="0">
                        <a:latin typeface="Arial Black" charset="0"/>
                        <a:ea typeface="Arial Black" charset="0"/>
                        <a:cs typeface="Arial Black"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F3338"/>
                    </a:solidFill>
                  </a:tcPr>
                </a:tc>
                <a:tc>
                  <a:txBody>
                    <a:bodyP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Region</a:t>
                      </a:r>
                      <a:endParaRPr lang="en-US" sz="1100" dirty="0">
                        <a:latin typeface="Arial Black" charset="0"/>
                        <a:ea typeface="Arial Black" charset="0"/>
                        <a:cs typeface="Arial Black"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F3338"/>
                    </a:solidFill>
                  </a:tcPr>
                </a:tc>
                <a:tc>
                  <a:txBody>
                    <a:bodyP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Fresh</a:t>
                      </a:r>
                      <a:endParaRPr lang="en-US" sz="1100" dirty="0">
                        <a:latin typeface="Arial Black" charset="0"/>
                        <a:ea typeface="Arial Black" charset="0"/>
                        <a:cs typeface="Arial Black"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F3338"/>
                    </a:solidFill>
                  </a:tcPr>
                </a:tc>
                <a:tc>
                  <a:txBody>
                    <a:bodyP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Milk</a:t>
                      </a:r>
                      <a:endParaRPr lang="en-US" sz="1100" dirty="0">
                        <a:latin typeface="Arial Black" charset="0"/>
                        <a:ea typeface="Arial Black" charset="0"/>
                        <a:cs typeface="Arial Black"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F3338"/>
                    </a:solidFill>
                  </a:tcPr>
                </a:tc>
                <a:tc>
                  <a:txBody>
                    <a:bodyP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Grocery</a:t>
                      </a:r>
                      <a:endParaRPr lang="en-US" sz="1100" dirty="0">
                        <a:latin typeface="Arial Black" charset="0"/>
                        <a:ea typeface="Arial Black" charset="0"/>
                        <a:cs typeface="Arial Black"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F3338"/>
                    </a:solidFill>
                  </a:tcPr>
                </a:tc>
                <a:tc>
                  <a:txBody>
                    <a:bodyP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Frozen</a:t>
                      </a:r>
                      <a:endParaRPr lang="en-US" sz="1100" dirty="0">
                        <a:latin typeface="Arial Black" charset="0"/>
                        <a:ea typeface="Arial Black" charset="0"/>
                        <a:cs typeface="Arial Black"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F3338"/>
                    </a:solidFill>
                  </a:tcPr>
                </a:tc>
                <a:tc>
                  <a:txBody>
                    <a:bodyP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Detergents</a:t>
                      </a:r>
                      <a:endParaRPr lang="en-US" sz="1100" dirty="0">
                        <a:latin typeface="Arial Black" charset="0"/>
                        <a:ea typeface="Arial Black" charset="0"/>
                        <a:cs typeface="Arial Black"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F3338"/>
                    </a:solidFill>
                  </a:tcPr>
                </a:tc>
                <a:tc>
                  <a:txBody>
                    <a:bodyP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Deli</a:t>
                      </a:r>
                      <a:endParaRPr lang="en-US" sz="1100" dirty="0">
                        <a:latin typeface="Arial Black" charset="0"/>
                        <a:ea typeface="Arial Black" charset="0"/>
                        <a:cs typeface="Arial Black"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F3338"/>
                    </a:solidFill>
                  </a:tcPr>
                </a:tc>
              </a:tr>
              <a:tr h="292608">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12669</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9656</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7561</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214</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2674</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1338</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7057</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9810</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9568</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1762</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3293</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1776</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r>
              <a:tr h="292608">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13265</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1196</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4221</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6404</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507</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1788</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2608">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22615</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5410</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7198</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3915</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1777</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5185</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E1E2"/>
                    </a:solidFill>
                  </a:tcPr>
                </a:tc>
              </a:tr>
              <a:tr h="292608">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5963</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3648</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6192</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425</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1716</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120"/>
                          </a:solidFill>
                          <a:latin typeface="Arial" pitchFamily="34" charset="0"/>
                          <a:ea typeface="Arial" pitchFamily="34" charset="-122"/>
                          <a:cs typeface="Arial" pitchFamily="34" charset="-120"/>
                        </a:rPr>
                        <a:t>750</a:t>
                      </a: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3520440"/>
            <a:ext cx="8229600" cy="960120"/>
          </a:xfrm>
          <a:prstGeom prst="rect">
            <a:avLst/>
          </a:prstGeom>
          <a:solidFill>
            <a:srgbClr val="FFFFFF"/>
          </a:solidFill>
          <a:ln w="19050">
            <a:solidFill>
              <a:srgbClr val="CF3338"/>
            </a:solidFill>
            <a:prstDash val="solid"/>
          </a:ln>
        </p:spPr>
      </p:sp>
      <p:sp>
        <p:nvSpPr>
          <p:cNvPr id="6" name="Shape 3"/>
          <p:cNvSpPr/>
          <p:nvPr/>
        </p:nvSpPr>
        <p:spPr>
          <a:xfrm>
            <a:off x="457200" y="3520440"/>
            <a:ext cx="109728" cy="960120"/>
          </a:xfrm>
          <a:prstGeom prst="rect">
            <a:avLst/>
          </a:prstGeom>
          <a:solidFill>
            <a:srgbClr val="CF3338"/>
          </a:solidFill>
          <a:ln w="12700">
            <a:solidFill>
              <a:srgbClr val="CF3338"/>
            </a:solidFill>
            <a:prstDash val="solid"/>
          </a:ln>
        </p:spPr>
      </p:sp>
      <p:sp>
        <p:nvSpPr>
          <p:cNvPr id="7" name="Text 4"/>
          <p:cNvSpPr/>
          <p:nvPr/>
        </p:nvSpPr>
        <p:spPr>
          <a:xfrm>
            <a:off x="685800" y="3566160"/>
            <a:ext cx="7863840" cy="868680"/>
          </a:xfrm>
          <a:prstGeom prst="rect">
            <a:avLst/>
          </a:prstGeom>
          <a:noFill/>
          <a:ln/>
        </p:spPr>
        <p:txBody>
          <a:bodyPr wrap="square" lIns="0" tIns="0" rIns="0" bIns="0" rtlCol="0" anchor="ctr"/>
          <a:lstStyle/>
          <a:p>
            <a:pPr indent="0" marL="0">
              <a:buNone/>
            </a:pPr>
            <a:r>
              <a:rPr lang="en-US" sz="1300" b="1" dirty="0">
                <a:solidFill>
                  <a:srgbClr val="CF3338"/>
                </a:solidFill>
                <a:latin typeface="Arial Black" pitchFamily="34" charset="0"/>
                <a:ea typeface="Arial Black" pitchFamily="34" charset="-122"/>
                <a:cs typeface="Arial Black" pitchFamily="34" charset="-120"/>
              </a:rPr>
              <a:t>Notice anything?  </a:t>
            </a:r>
            <a:pPr indent="0" marL="0">
              <a:buNone/>
            </a:pPr>
            <a:r>
              <a:rPr lang="en-US" sz="1300" dirty="0">
                <a:solidFill>
                  <a:srgbClr val="1F2120"/>
                </a:solidFill>
                <a:latin typeface="Arial" pitchFamily="34" charset="0"/>
                <a:ea typeface="Arial" pitchFamily="34" charset="-122"/>
                <a:cs typeface="Arial" pitchFamily="34" charset="-120"/>
              </a:rPr>
              <a:t>Channel is coded 1 or 2. Region is coded 1, 2, 3. Spend is split across six wide columns. </a:t>
            </a:r>
            <a:pPr indent="0" marL="0">
              <a:buNone/>
            </a:pPr>
            <a:r>
              <a:rPr lang="en-US" sz="1300" b="1" dirty="0">
                <a:solidFill>
                  <a:srgbClr val="1F2120"/>
                </a:solidFill>
                <a:latin typeface="Arial" pitchFamily="34" charset="0"/>
                <a:ea typeface="Arial" pitchFamily="34" charset="-122"/>
                <a:cs typeface="Arial" pitchFamily="34" charset="-120"/>
              </a:rPr>
              <a:t>There's no 'sales' column at all.</a:t>
            </a:r>
            <a:endParaRPr lang="en-US" sz="1300" dirty="0"/>
          </a:p>
        </p:txBody>
      </p:sp>
      <p:sp>
        <p:nvSpPr>
          <p:cNvPr id="8" name="Text 5"/>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F2120"/>
                </a:solidFill>
                <a:latin typeface="Arial Black" pitchFamily="34" charset="0"/>
                <a:ea typeface="Arial Black" pitchFamily="34" charset="-122"/>
                <a:cs typeface="Arial Black" pitchFamily="34" charset="-120"/>
              </a:rPr>
              <a:t>Where we start: Analyze Data</a:t>
            </a:r>
            <a:endParaRPr lang="en-US" sz="3000" dirty="0"/>
          </a:p>
        </p:txBody>
      </p:sp>
      <p:sp>
        <p:nvSpPr>
          <p:cNvPr id="3" name="Text 1"/>
          <p:cNvSpPr/>
          <p:nvPr/>
        </p:nvSpPr>
        <p:spPr>
          <a:xfrm>
            <a:off x="457200" y="960120"/>
            <a:ext cx="8229600" cy="365760"/>
          </a:xfrm>
          <a:prstGeom prst="rect">
            <a:avLst/>
          </a:prstGeom>
          <a:noFill/>
          <a:ln/>
        </p:spPr>
        <p:txBody>
          <a:bodyPr wrap="square" lIns="0" tIns="0" rIns="0" bIns="0" rtlCol="0" anchor="ctr"/>
          <a:lstStyle/>
          <a:p>
            <a:pPr indent="0" marL="0">
              <a:buNone/>
            </a:pPr>
            <a:r>
              <a:rPr lang="en-US" sz="1400" i="1" dirty="0">
                <a:solidFill>
                  <a:srgbClr val="707070"/>
                </a:solidFill>
                <a:latin typeface="Arial" pitchFamily="34" charset="0"/>
                <a:ea typeface="Arial" pitchFamily="34" charset="-122"/>
                <a:cs typeface="Arial" pitchFamily="34" charset="-120"/>
              </a:rPr>
              <a:t>Built into Excel for years. A natural-language doorway to your data.</a:t>
            </a:r>
            <a:endParaRPr lang="en-US" sz="1400" dirty="0"/>
          </a:p>
        </p:txBody>
      </p:sp>
      <p:sp>
        <p:nvSpPr>
          <p:cNvPr id="4" name="Shape 2"/>
          <p:cNvSpPr/>
          <p:nvPr/>
        </p:nvSpPr>
        <p:spPr>
          <a:xfrm>
            <a:off x="457200" y="1554480"/>
            <a:ext cx="2743200" cy="2834640"/>
          </a:xfrm>
          <a:prstGeom prst="rect">
            <a:avLst/>
          </a:prstGeom>
          <a:solidFill>
            <a:srgbClr val="FFFFFF"/>
          </a:solidFill>
          <a:ln w="12700">
            <a:solidFill>
              <a:srgbClr val="DDDDDD"/>
            </a:solidFill>
            <a:prstDash val="solid"/>
          </a:ln>
        </p:spPr>
      </p:sp>
      <p:sp>
        <p:nvSpPr>
          <p:cNvPr id="5" name="Shape 3"/>
          <p:cNvSpPr/>
          <p:nvPr/>
        </p:nvSpPr>
        <p:spPr>
          <a:xfrm>
            <a:off x="457200" y="1554480"/>
            <a:ext cx="2743200" cy="411480"/>
          </a:xfrm>
          <a:prstGeom prst="rect">
            <a:avLst/>
          </a:prstGeom>
          <a:solidFill>
            <a:srgbClr val="CF3338"/>
          </a:solidFill>
          <a:ln w="12700">
            <a:solidFill>
              <a:srgbClr val="CF3338"/>
            </a:solidFill>
            <a:prstDash val="solid"/>
          </a:ln>
        </p:spPr>
      </p:sp>
      <p:sp>
        <p:nvSpPr>
          <p:cNvPr id="6" name="Text 4"/>
          <p:cNvSpPr/>
          <p:nvPr/>
        </p:nvSpPr>
        <p:spPr>
          <a:xfrm>
            <a:off x="457200" y="1554480"/>
            <a:ext cx="27432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What it is</a:t>
            </a:r>
            <a:endParaRPr lang="en-US" sz="1400" dirty="0"/>
          </a:p>
        </p:txBody>
      </p:sp>
      <p:sp>
        <p:nvSpPr>
          <p:cNvPr id="7" name="Text 5"/>
          <p:cNvSpPr/>
          <p:nvPr/>
        </p:nvSpPr>
        <p:spPr>
          <a:xfrm>
            <a:off x="640080" y="2103120"/>
            <a:ext cx="2377440" cy="2194560"/>
          </a:xfrm>
          <a:prstGeom prst="rect">
            <a:avLst/>
          </a:prstGeom>
          <a:noFill/>
          <a:ln/>
        </p:spPr>
        <p:txBody>
          <a:bodyPr wrap="square" rtlCol="0" anchor="t"/>
          <a:lstStyle/>
          <a:p>
            <a:pPr indent="0" marL="0">
              <a:buNone/>
            </a:pPr>
            <a:r>
              <a:rPr lang="en-US" sz="1300" dirty="0">
                <a:solidFill>
                  <a:srgbClr val="1F2120"/>
                </a:solidFill>
                <a:latin typeface="Arial" pitchFamily="34" charset="0"/>
                <a:ea typeface="Arial" pitchFamily="34" charset="-122"/>
                <a:cs typeface="Arial" pitchFamily="34" charset="-120"/>
              </a:rPr>
              <a:t>Click a cell in your table → Home → Analyze Data. Excel suggests charts and lets you type questions in plain English.</a:t>
            </a:r>
            <a:endParaRPr lang="en-US" sz="1300" dirty="0"/>
          </a:p>
        </p:txBody>
      </p:sp>
      <p:sp>
        <p:nvSpPr>
          <p:cNvPr id="8" name="Shape 6"/>
          <p:cNvSpPr/>
          <p:nvPr/>
        </p:nvSpPr>
        <p:spPr>
          <a:xfrm>
            <a:off x="3291840" y="1554480"/>
            <a:ext cx="2743200" cy="2834640"/>
          </a:xfrm>
          <a:prstGeom prst="rect">
            <a:avLst/>
          </a:prstGeom>
          <a:solidFill>
            <a:srgbClr val="FFFFFF"/>
          </a:solidFill>
          <a:ln w="12700">
            <a:solidFill>
              <a:srgbClr val="DDDDDD"/>
            </a:solidFill>
            <a:prstDash val="solid"/>
          </a:ln>
        </p:spPr>
      </p:sp>
      <p:sp>
        <p:nvSpPr>
          <p:cNvPr id="9" name="Shape 7"/>
          <p:cNvSpPr/>
          <p:nvPr/>
        </p:nvSpPr>
        <p:spPr>
          <a:xfrm>
            <a:off x="3291840" y="1554480"/>
            <a:ext cx="2743200" cy="411480"/>
          </a:xfrm>
          <a:prstGeom prst="rect">
            <a:avLst/>
          </a:prstGeom>
          <a:solidFill>
            <a:srgbClr val="CF3338"/>
          </a:solidFill>
          <a:ln w="12700">
            <a:solidFill>
              <a:srgbClr val="CF3338"/>
            </a:solidFill>
            <a:prstDash val="solid"/>
          </a:ln>
        </p:spPr>
      </p:sp>
      <p:sp>
        <p:nvSpPr>
          <p:cNvPr id="10" name="Text 8"/>
          <p:cNvSpPr/>
          <p:nvPr/>
        </p:nvSpPr>
        <p:spPr>
          <a:xfrm>
            <a:off x="3291840" y="1554480"/>
            <a:ext cx="27432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Why it matters</a:t>
            </a:r>
            <a:endParaRPr lang="en-US" sz="1400" dirty="0"/>
          </a:p>
        </p:txBody>
      </p:sp>
      <p:sp>
        <p:nvSpPr>
          <p:cNvPr id="11" name="Text 9"/>
          <p:cNvSpPr/>
          <p:nvPr/>
        </p:nvSpPr>
        <p:spPr>
          <a:xfrm>
            <a:off x="3474720" y="2103120"/>
            <a:ext cx="2377440" cy="2194560"/>
          </a:xfrm>
          <a:prstGeom prst="rect">
            <a:avLst/>
          </a:prstGeom>
          <a:noFill/>
          <a:ln/>
        </p:spPr>
        <p:txBody>
          <a:bodyPr wrap="square" rtlCol="0" anchor="t"/>
          <a:lstStyle/>
          <a:p>
            <a:pPr indent="0" marL="0">
              <a:buNone/>
            </a:pPr>
            <a:r>
              <a:rPr lang="en-US" sz="1300" dirty="0">
                <a:solidFill>
                  <a:srgbClr val="1F2120"/>
                </a:solidFill>
                <a:latin typeface="Arial" pitchFamily="34" charset="0"/>
                <a:ea typeface="Arial" pitchFamily="34" charset="-122"/>
                <a:cs typeface="Arial" pitchFamily="34" charset="-120"/>
              </a:rPr>
              <a:t>It's the same conversational pattern as a modern LLM, minus the language model. The closest thing to ChatGPT that's already in your ribbon.</a:t>
            </a:r>
            <a:endParaRPr lang="en-US" sz="1300" dirty="0"/>
          </a:p>
        </p:txBody>
      </p:sp>
      <p:sp>
        <p:nvSpPr>
          <p:cNvPr id="12" name="Shape 10"/>
          <p:cNvSpPr/>
          <p:nvPr/>
        </p:nvSpPr>
        <p:spPr>
          <a:xfrm>
            <a:off x="6126480" y="1554480"/>
            <a:ext cx="2743200" cy="2834640"/>
          </a:xfrm>
          <a:prstGeom prst="rect">
            <a:avLst/>
          </a:prstGeom>
          <a:solidFill>
            <a:srgbClr val="FFFFFF"/>
          </a:solidFill>
          <a:ln w="12700">
            <a:solidFill>
              <a:srgbClr val="DDDDDD"/>
            </a:solidFill>
            <a:prstDash val="solid"/>
          </a:ln>
        </p:spPr>
      </p:sp>
      <p:sp>
        <p:nvSpPr>
          <p:cNvPr id="13" name="Shape 11"/>
          <p:cNvSpPr/>
          <p:nvPr/>
        </p:nvSpPr>
        <p:spPr>
          <a:xfrm>
            <a:off x="6126480" y="1554480"/>
            <a:ext cx="2743200" cy="411480"/>
          </a:xfrm>
          <a:prstGeom prst="rect">
            <a:avLst/>
          </a:prstGeom>
          <a:solidFill>
            <a:srgbClr val="CF3338"/>
          </a:solidFill>
          <a:ln w="12700">
            <a:solidFill>
              <a:srgbClr val="CF3338"/>
            </a:solidFill>
            <a:prstDash val="solid"/>
          </a:ln>
        </p:spPr>
      </p:sp>
      <p:sp>
        <p:nvSpPr>
          <p:cNvPr id="14" name="Text 12"/>
          <p:cNvSpPr/>
          <p:nvPr/>
        </p:nvSpPr>
        <p:spPr>
          <a:xfrm>
            <a:off x="6126480" y="1554480"/>
            <a:ext cx="27432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Today's job</a:t>
            </a:r>
            <a:endParaRPr lang="en-US" sz="1400" dirty="0"/>
          </a:p>
        </p:txBody>
      </p:sp>
      <p:sp>
        <p:nvSpPr>
          <p:cNvPr id="15" name="Text 13"/>
          <p:cNvSpPr/>
          <p:nvPr/>
        </p:nvSpPr>
        <p:spPr>
          <a:xfrm>
            <a:off x="6309360" y="2103120"/>
            <a:ext cx="2377440" cy="2194560"/>
          </a:xfrm>
          <a:prstGeom prst="rect">
            <a:avLst/>
          </a:prstGeom>
          <a:noFill/>
          <a:ln/>
        </p:spPr>
        <p:txBody>
          <a:bodyPr wrap="square" rtlCol="0" anchor="t"/>
          <a:lstStyle/>
          <a:p>
            <a:pPr indent="0" marL="0">
              <a:buNone/>
            </a:pPr>
            <a:r>
              <a:rPr lang="en-US" sz="1300" dirty="0">
                <a:solidFill>
                  <a:srgbClr val="1F2120"/>
                </a:solidFill>
                <a:latin typeface="Arial" pitchFamily="34" charset="0"/>
                <a:ea typeface="Arial" pitchFamily="34" charset="-122"/>
                <a:cs typeface="Arial" pitchFamily="34" charset="-120"/>
              </a:rPr>
              <a:t>Use it to ask 'find total sales by channel' on our wholesale data, and watch what happens.</a:t>
            </a:r>
            <a:endParaRPr lang="en-US" sz="1300" dirty="0"/>
          </a:p>
        </p:txBody>
      </p:sp>
      <p:sp>
        <p:nvSpPr>
          <p:cNvPr id="16" name="Text 14"/>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600" b="1" dirty="0">
                <a:solidFill>
                  <a:srgbClr val="CF3338"/>
                </a:solidFill>
                <a:latin typeface="Arial Black" pitchFamily="34" charset="0"/>
                <a:ea typeface="Arial Black" pitchFamily="34" charset="-122"/>
                <a:cs typeface="Arial Black" pitchFamily="34" charset="-120"/>
              </a:rPr>
              <a:t>The hitch</a:t>
            </a:r>
            <a:endParaRPr lang="en-US" sz="3600" dirty="0"/>
          </a:p>
        </p:txBody>
      </p:sp>
      <p:sp>
        <p:nvSpPr>
          <p:cNvPr id="3" name="Shape 1"/>
          <p:cNvSpPr/>
          <p:nvPr/>
        </p:nvSpPr>
        <p:spPr>
          <a:xfrm>
            <a:off x="457200" y="1143000"/>
            <a:ext cx="8229600" cy="914400"/>
          </a:xfrm>
          <a:prstGeom prst="rect">
            <a:avLst/>
          </a:prstGeom>
          <a:solidFill>
            <a:srgbClr val="FFFFFF"/>
          </a:solidFill>
          <a:ln w="19050">
            <a:solidFill>
              <a:srgbClr val="1F2120"/>
            </a:solidFill>
            <a:prstDash val="solid"/>
          </a:ln>
        </p:spPr>
      </p:sp>
      <p:sp>
        <p:nvSpPr>
          <p:cNvPr id="4" name="Text 2"/>
          <p:cNvSpPr/>
          <p:nvPr/>
        </p:nvSpPr>
        <p:spPr>
          <a:xfrm>
            <a:off x="640080" y="1188720"/>
            <a:ext cx="7863840" cy="822960"/>
          </a:xfrm>
          <a:prstGeom prst="rect">
            <a:avLst/>
          </a:prstGeom>
          <a:noFill/>
          <a:ln/>
        </p:spPr>
        <p:txBody>
          <a:bodyPr wrap="square" lIns="0" tIns="0" rIns="0" bIns="0" rtlCol="0" anchor="ctr"/>
          <a:lstStyle/>
          <a:p>
            <a:pPr indent="0" marL="0">
              <a:buNone/>
            </a:pPr>
            <a:r>
              <a:rPr lang="en-US" sz="2000" dirty="0">
                <a:solidFill>
                  <a:srgbClr val="707070"/>
                </a:solidFill>
                <a:latin typeface="Arial" pitchFamily="34" charset="0"/>
                <a:ea typeface="Arial" pitchFamily="34" charset="-122"/>
                <a:cs typeface="Arial" pitchFamily="34" charset="-120"/>
              </a:rPr>
              <a:t>You type:  </a:t>
            </a:r>
            <a:pPr indent="0" marL="0">
              <a:buNone/>
            </a:pPr>
            <a:r>
              <a:rPr lang="en-US" sz="2000" b="1" dirty="0">
                <a:solidFill>
                  <a:srgbClr val="1F2120"/>
                </a:solidFill>
                <a:latin typeface="Arial" pitchFamily="34" charset="0"/>
                <a:ea typeface="Arial" pitchFamily="34" charset="-122"/>
                <a:cs typeface="Arial" pitchFamily="34" charset="-120"/>
              </a:rPr>
              <a:t>“Find total sales by channel.”</a:t>
            </a:r>
            <a:endParaRPr lang="en-US" sz="2000" dirty="0"/>
          </a:p>
        </p:txBody>
      </p:sp>
      <p:sp>
        <p:nvSpPr>
          <p:cNvPr id="5" name="Shape 3"/>
          <p:cNvSpPr/>
          <p:nvPr/>
        </p:nvSpPr>
        <p:spPr>
          <a:xfrm>
            <a:off x="457200" y="2331720"/>
            <a:ext cx="3931920" cy="2103120"/>
          </a:xfrm>
          <a:prstGeom prst="rect">
            <a:avLst/>
          </a:prstGeom>
          <a:solidFill>
            <a:srgbClr val="FFFFFF"/>
          </a:solidFill>
          <a:ln w="19050">
            <a:solidFill>
              <a:srgbClr val="CF3338"/>
            </a:solidFill>
            <a:prstDash val="solid"/>
          </a:ln>
        </p:spPr>
      </p:sp>
      <p:sp>
        <p:nvSpPr>
          <p:cNvPr id="6" name="Shape 4"/>
          <p:cNvSpPr/>
          <p:nvPr/>
        </p:nvSpPr>
        <p:spPr>
          <a:xfrm>
            <a:off x="457200" y="2331720"/>
            <a:ext cx="3931920" cy="411480"/>
          </a:xfrm>
          <a:prstGeom prst="rect">
            <a:avLst/>
          </a:prstGeom>
          <a:solidFill>
            <a:srgbClr val="CF3338"/>
          </a:solidFill>
          <a:ln w="12700">
            <a:solidFill>
              <a:srgbClr val="CF3338"/>
            </a:solidFill>
            <a:prstDash val="solid"/>
          </a:ln>
        </p:spPr>
      </p:sp>
      <p:sp>
        <p:nvSpPr>
          <p:cNvPr id="7" name="Text 5"/>
          <p:cNvSpPr/>
          <p:nvPr/>
        </p:nvSpPr>
        <p:spPr>
          <a:xfrm>
            <a:off x="457200" y="2331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What you get back</a:t>
            </a:r>
            <a:endParaRPr lang="en-US" sz="1400" dirty="0"/>
          </a:p>
        </p:txBody>
      </p:sp>
      <p:sp>
        <p:nvSpPr>
          <p:cNvPr id="8" name="Text 6"/>
          <p:cNvSpPr/>
          <p:nvPr/>
        </p:nvSpPr>
        <p:spPr>
          <a:xfrm>
            <a:off x="685800" y="2788920"/>
            <a:ext cx="3566160" cy="1645920"/>
          </a:xfrm>
          <a:prstGeom prst="rect">
            <a:avLst/>
          </a:prstGeom>
          <a:noFill/>
          <a:ln/>
        </p:spPr>
        <p:txBody>
          <a:bodyPr wrap="square" lIns="0" tIns="0" rIns="0" bIns="0" rtlCol="0" anchor="t"/>
          <a:lstStyle/>
          <a:p>
            <a:pPr indent="0" marL="0">
              <a:buNone/>
            </a:pPr>
            <a:r>
              <a:rPr lang="en-US" sz="1300" dirty="0">
                <a:solidFill>
                  <a:srgbClr val="1F2120"/>
                </a:solidFill>
                <a:latin typeface="Arial" pitchFamily="34" charset="0"/>
                <a:ea typeface="Arial" pitchFamily="34" charset="-122"/>
                <a:cs typeface="Arial" pitchFamily="34" charset="-120"/>
              </a:rPr>
              <a:t>A chart of “Sum of Channel”,  </a:t>
            </a:r>
            <a:endParaRPr lang="en-US" sz="1300" dirty="0"/>
          </a:p>
          <a:p>
            <a:pPr indent="0" marL="0">
              <a:buNone/>
            </a:pPr>
            <a:r>
              <a:rPr lang="en-US" sz="1300" dirty="0">
                <a:solidFill>
                  <a:srgbClr val="1F2120"/>
                </a:solidFill>
                <a:latin typeface="Arial" pitchFamily="34" charset="0"/>
                <a:ea typeface="Arial" pitchFamily="34" charset="-122"/>
                <a:cs typeface="Arial" pitchFamily="34" charset="-120"/>
              </a:rPr>
              <a:t>  or the average of a column called “Channel,” </a:t>
            </a:r>
            <a:endParaRPr lang="en-US" sz="1300" dirty="0"/>
          </a:p>
          <a:p>
            <a:pPr indent="0" marL="0">
              <a:buNone/>
            </a:pPr>
            <a:r>
              <a:rPr lang="en-US" sz="1300" dirty="0">
                <a:solidFill>
                  <a:srgbClr val="1F2120"/>
                </a:solidFill>
                <a:latin typeface="Arial" pitchFamily="34" charset="0"/>
                <a:ea typeface="Arial" pitchFamily="34" charset="-122"/>
                <a:cs typeface="Arial" pitchFamily="34" charset="-120"/>
              </a:rPr>
              <a:t>  or one product category mis-labeled as “sales.”</a:t>
            </a:r>
            <a:endParaRPr lang="en-US" sz="1300" dirty="0"/>
          </a:p>
          <a:p>
            <a:pPr indent="0" marL="0">
              <a:buNone/>
            </a:pPr>
            <a:r>
              <a:rPr lang="en-US" sz="1300" dirty="0">
                <a:solidFill>
                  <a:srgbClr val="000000"/>
                </a:solidFill>
              </a:rPr>
              <a:t> </a:t>
            </a:r>
            <a:endParaRPr lang="en-US" sz="1300" dirty="0"/>
          </a:p>
          <a:p>
            <a:pPr indent="0" marL="0">
              <a:buNone/>
            </a:pPr>
            <a:r>
              <a:rPr lang="en-US" sz="1300" dirty="0">
                <a:solidFill>
                  <a:srgbClr val="1F2120"/>
                </a:solidFill>
                <a:latin typeface="Arial" pitchFamily="34" charset="0"/>
                <a:ea typeface="Arial" pitchFamily="34" charset="-122"/>
                <a:cs typeface="Arial" pitchFamily="34" charset="-120"/>
              </a:rPr>
              <a:t>Confident. Specific. </a:t>
            </a:r>
            <a:pPr indent="0" marL="0">
              <a:buNone/>
            </a:pPr>
            <a:r>
              <a:rPr lang="en-US" sz="1300" b="1" dirty="0">
                <a:solidFill>
                  <a:srgbClr val="CF3338"/>
                </a:solidFill>
                <a:latin typeface="Arial Black" pitchFamily="34" charset="0"/>
                <a:ea typeface="Arial Black" pitchFamily="34" charset="-122"/>
                <a:cs typeface="Arial Black" pitchFamily="34" charset="-120"/>
              </a:rPr>
              <a:t>Wrong.</a:t>
            </a:r>
            <a:endParaRPr lang="en-US" sz="1300" dirty="0"/>
          </a:p>
        </p:txBody>
      </p:sp>
      <p:sp>
        <p:nvSpPr>
          <p:cNvPr id="9" name="Shape 7"/>
          <p:cNvSpPr/>
          <p:nvPr/>
        </p:nvSpPr>
        <p:spPr>
          <a:xfrm>
            <a:off x="4754880" y="2331720"/>
            <a:ext cx="3931920" cy="2103120"/>
          </a:xfrm>
          <a:prstGeom prst="rect">
            <a:avLst/>
          </a:prstGeom>
          <a:solidFill>
            <a:srgbClr val="FFFFFF"/>
          </a:solidFill>
          <a:ln w="19050">
            <a:solidFill>
              <a:srgbClr val="707070"/>
            </a:solidFill>
            <a:prstDash val="solid"/>
          </a:ln>
        </p:spPr>
      </p:sp>
      <p:sp>
        <p:nvSpPr>
          <p:cNvPr id="10" name="Shape 8"/>
          <p:cNvSpPr/>
          <p:nvPr/>
        </p:nvSpPr>
        <p:spPr>
          <a:xfrm>
            <a:off x="4754880" y="2331720"/>
            <a:ext cx="3931920" cy="411480"/>
          </a:xfrm>
          <a:prstGeom prst="rect">
            <a:avLst/>
          </a:prstGeom>
          <a:solidFill>
            <a:srgbClr val="1F2120"/>
          </a:solidFill>
          <a:ln w="12700">
            <a:solidFill>
              <a:srgbClr val="1F2120"/>
            </a:solidFill>
            <a:prstDash val="solid"/>
          </a:ln>
        </p:spPr>
      </p:sp>
      <p:sp>
        <p:nvSpPr>
          <p:cNvPr id="11" name="Text 9"/>
          <p:cNvSpPr/>
          <p:nvPr/>
        </p:nvSpPr>
        <p:spPr>
          <a:xfrm>
            <a:off x="4754880" y="2331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What you wanted</a:t>
            </a:r>
            <a:endParaRPr lang="en-US" sz="1400" dirty="0"/>
          </a:p>
        </p:txBody>
      </p:sp>
      <p:sp>
        <p:nvSpPr>
          <p:cNvPr id="12" name="Text 10"/>
          <p:cNvSpPr/>
          <p:nvPr/>
        </p:nvSpPr>
        <p:spPr>
          <a:xfrm>
            <a:off x="4983480" y="2788920"/>
            <a:ext cx="3566160" cy="1645920"/>
          </a:xfrm>
          <a:prstGeom prst="rect">
            <a:avLst/>
          </a:prstGeom>
          <a:noFill/>
          <a:ln/>
        </p:spPr>
        <p:txBody>
          <a:bodyPr wrap="square" lIns="0" tIns="0" rIns="0" bIns="0" rtlCol="0" anchor="t"/>
          <a:lstStyle/>
          <a:p>
            <a:pPr indent="0" marL="0">
              <a:buNone/>
            </a:pPr>
            <a:r>
              <a:rPr lang="en-US" sz="1300" b="1" dirty="0">
                <a:solidFill>
                  <a:srgbClr val="1F2120"/>
                </a:solidFill>
                <a:latin typeface="Arial Black" pitchFamily="34" charset="0"/>
                <a:ea typeface="Arial Black" pitchFamily="34" charset="-122"/>
                <a:cs typeface="Arial Black" pitchFamily="34" charset="-120"/>
              </a:rPr>
              <a:t>HoReCa:  </a:t>
            </a:r>
            <a:pPr indent="0" marL="0">
              <a:buNone/>
            </a:pPr>
            <a:r>
              <a:rPr lang="en-US" sz="1300" dirty="0">
                <a:solidFill>
                  <a:srgbClr val="1F2120"/>
                </a:solidFill>
                <a:latin typeface="Arial" pitchFamily="34" charset="0"/>
                <a:ea typeface="Arial" pitchFamily="34" charset="-122"/>
                <a:cs typeface="Arial" pitchFamily="34" charset="-120"/>
              </a:rPr>
              <a:t>$X total spend across 6 categories</a:t>
            </a:r>
            <a:endParaRPr lang="en-US" sz="1300" dirty="0"/>
          </a:p>
          <a:p>
            <a:pPr indent="0" marL="0">
              <a:buNone/>
            </a:pPr>
            <a:r>
              <a:rPr lang="en-US" sz="1300" b="1" dirty="0">
                <a:solidFill>
                  <a:srgbClr val="1F2120"/>
                </a:solidFill>
                <a:latin typeface="Arial Black" pitchFamily="34" charset="0"/>
                <a:ea typeface="Arial Black" pitchFamily="34" charset="-122"/>
                <a:cs typeface="Arial Black" pitchFamily="34" charset="-120"/>
              </a:rPr>
              <a:t>Retail:  </a:t>
            </a:r>
            <a:pPr indent="0" marL="0">
              <a:buNone/>
            </a:pPr>
            <a:r>
              <a:rPr lang="en-US" sz="1300" dirty="0">
                <a:solidFill>
                  <a:srgbClr val="1F2120"/>
                </a:solidFill>
                <a:latin typeface="Arial" pitchFamily="34" charset="0"/>
                <a:ea typeface="Arial" pitchFamily="34" charset="-122"/>
                <a:cs typeface="Arial" pitchFamily="34" charset="-120"/>
              </a:rPr>
              <a:t>$Y total spend across 6 categories</a:t>
            </a:r>
            <a:endParaRPr lang="en-US" sz="1300" dirty="0"/>
          </a:p>
          <a:p>
            <a:pPr indent="0" marL="0">
              <a:buNone/>
            </a:pPr>
            <a:r>
              <a:rPr lang="en-US" sz="1300" dirty="0">
                <a:solidFill>
                  <a:srgbClr val="000000"/>
                </a:solidFill>
              </a:rPr>
              <a:t> </a:t>
            </a:r>
            <a:endParaRPr lang="en-US" sz="1300" dirty="0"/>
          </a:p>
          <a:p>
            <a:pPr indent="0" marL="0">
              <a:buNone/>
            </a:pPr>
            <a:r>
              <a:rPr lang="en-US" sz="1300" i="1" dirty="0">
                <a:solidFill>
                  <a:srgbClr val="707070"/>
                </a:solidFill>
                <a:latin typeface="Arial" pitchFamily="34" charset="0"/>
                <a:ea typeface="Arial" pitchFamily="34" charset="-122"/>
                <a:cs typeface="Arial" pitchFamily="34" charset="-120"/>
              </a:rPr>
              <a:t>Two real numbers, with real labels.</a:t>
            </a:r>
            <a:endParaRPr lang="en-US" sz="1300" dirty="0"/>
          </a:p>
        </p:txBody>
      </p:sp>
      <p:sp>
        <p:nvSpPr>
          <p:cNvPr id="13" name="Text 11"/>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200" b="1" dirty="0">
                <a:solidFill>
                  <a:srgbClr val="1F2120"/>
                </a:solidFill>
                <a:latin typeface="Arial Black" pitchFamily="34" charset="0"/>
                <a:ea typeface="Arial Black" pitchFamily="34" charset="-122"/>
                <a:cs typeface="Arial Black" pitchFamily="34" charset="-120"/>
              </a:rPr>
              <a:t>Why it failed</a:t>
            </a:r>
            <a:endParaRPr lang="en-US" sz="3200" dirty="0"/>
          </a:p>
        </p:txBody>
      </p:sp>
      <p:sp>
        <p:nvSpPr>
          <p:cNvPr id="3" name="Text 1"/>
          <p:cNvSpPr/>
          <p:nvPr/>
        </p:nvSpPr>
        <p:spPr>
          <a:xfrm>
            <a:off x="457200" y="960120"/>
            <a:ext cx="8229600" cy="365760"/>
          </a:xfrm>
          <a:prstGeom prst="rect">
            <a:avLst/>
          </a:prstGeom>
          <a:noFill/>
          <a:ln/>
        </p:spPr>
        <p:txBody>
          <a:bodyPr wrap="square" lIns="0" tIns="0" rIns="0" bIns="0" rtlCol="0" anchor="ctr"/>
          <a:lstStyle/>
          <a:p>
            <a:pPr indent="0" marL="0">
              <a:buNone/>
            </a:pPr>
            <a:r>
              <a:rPr lang="en-US" sz="1400" i="1" dirty="0">
                <a:solidFill>
                  <a:srgbClr val="707070"/>
                </a:solidFill>
                <a:latin typeface="Arial" pitchFamily="34" charset="0"/>
                <a:ea typeface="Arial" pitchFamily="34" charset="-122"/>
                <a:cs typeface="Arial" pitchFamily="34" charset="-120"/>
              </a:rPr>
              <a:t>The data was tabular, but not in the shape a machine could reason about.</a:t>
            </a:r>
            <a:endParaRPr lang="en-US" sz="1400" dirty="0"/>
          </a:p>
        </p:txBody>
      </p:sp>
      <p:sp>
        <p:nvSpPr>
          <p:cNvPr id="4" name="Shape 2"/>
          <p:cNvSpPr/>
          <p:nvPr/>
        </p:nvSpPr>
        <p:spPr>
          <a:xfrm>
            <a:off x="548640" y="1554480"/>
            <a:ext cx="640080" cy="640080"/>
          </a:xfrm>
          <a:prstGeom prst="ellipse">
            <a:avLst/>
          </a:prstGeom>
          <a:solidFill>
            <a:srgbClr val="CF3338"/>
          </a:solidFill>
          <a:ln w="12700">
            <a:solidFill>
              <a:srgbClr val="CF3338"/>
            </a:solidFill>
            <a:prstDash val="solid"/>
          </a:ln>
        </p:spPr>
      </p:sp>
      <p:sp>
        <p:nvSpPr>
          <p:cNvPr id="5" name="Text 3"/>
          <p:cNvSpPr/>
          <p:nvPr/>
        </p:nvSpPr>
        <p:spPr>
          <a:xfrm>
            <a:off x="548640" y="15544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1</a:t>
            </a:r>
            <a:endParaRPr lang="en-US" sz="2400" dirty="0"/>
          </a:p>
        </p:txBody>
      </p:sp>
      <p:sp>
        <p:nvSpPr>
          <p:cNvPr id="6" name="Text 4"/>
          <p:cNvSpPr/>
          <p:nvPr/>
        </p:nvSpPr>
        <p:spPr>
          <a:xfrm>
            <a:off x="1371600" y="1536192"/>
            <a:ext cx="7315200" cy="365760"/>
          </a:xfrm>
          <a:prstGeom prst="rect">
            <a:avLst/>
          </a:prstGeom>
          <a:noFill/>
          <a:ln/>
        </p:spPr>
        <p:txBody>
          <a:bodyPr wrap="square" lIns="0" tIns="0" rIns="0" bIns="0" rtlCol="0" anchor="ctr"/>
          <a:lstStyle/>
          <a:p>
            <a:pPr indent="0" marL="0">
              <a:buNone/>
            </a:pPr>
            <a:r>
              <a:rPr lang="en-US" sz="1700" b="1" dirty="0">
                <a:solidFill>
                  <a:srgbClr val="1F2120"/>
                </a:solidFill>
                <a:latin typeface="Arial Black" pitchFamily="34" charset="0"/>
                <a:ea typeface="Arial Black" pitchFamily="34" charset="-122"/>
                <a:cs typeface="Arial Black" pitchFamily="34" charset="-120"/>
              </a:rPr>
              <a:t>Channel is a number, not a label</a:t>
            </a:r>
            <a:endParaRPr lang="en-US" sz="1700" dirty="0"/>
          </a:p>
        </p:txBody>
      </p:sp>
      <p:sp>
        <p:nvSpPr>
          <p:cNvPr id="7" name="Text 5"/>
          <p:cNvSpPr/>
          <p:nvPr/>
        </p:nvSpPr>
        <p:spPr>
          <a:xfrm>
            <a:off x="1371600" y="1920240"/>
            <a:ext cx="7315200" cy="365760"/>
          </a:xfrm>
          <a:prstGeom prst="rect">
            <a:avLst/>
          </a:prstGeom>
          <a:noFill/>
          <a:ln/>
        </p:spPr>
        <p:txBody>
          <a:bodyPr wrap="square" lIns="0" tIns="0" rIns="0" bIns="0" rtlCol="0" anchor="ctr"/>
          <a:lstStyle/>
          <a:p>
            <a:pPr indent="0" marL="0">
              <a:buNone/>
            </a:pPr>
            <a:r>
              <a:rPr lang="en-US" sz="1300" dirty="0">
                <a:solidFill>
                  <a:srgbClr val="707070"/>
                </a:solidFill>
                <a:latin typeface="Arial" pitchFamily="34" charset="0"/>
                <a:ea typeface="Arial" pitchFamily="34" charset="-122"/>
                <a:cs typeface="Arial" pitchFamily="34" charset="-120"/>
              </a:rPr>
              <a:t>1 and 2 look numeric. Of course it tried to sum them.</a:t>
            </a:r>
            <a:endParaRPr lang="en-US" sz="1300" dirty="0"/>
          </a:p>
        </p:txBody>
      </p:sp>
      <p:sp>
        <p:nvSpPr>
          <p:cNvPr id="8" name="Shape 6"/>
          <p:cNvSpPr/>
          <p:nvPr/>
        </p:nvSpPr>
        <p:spPr>
          <a:xfrm>
            <a:off x="548640" y="2468880"/>
            <a:ext cx="640080" cy="640080"/>
          </a:xfrm>
          <a:prstGeom prst="ellipse">
            <a:avLst/>
          </a:prstGeom>
          <a:solidFill>
            <a:srgbClr val="CF3338"/>
          </a:solidFill>
          <a:ln w="12700">
            <a:solidFill>
              <a:srgbClr val="CF3338"/>
            </a:solidFill>
            <a:prstDash val="solid"/>
          </a:ln>
        </p:spPr>
      </p:sp>
      <p:sp>
        <p:nvSpPr>
          <p:cNvPr id="9" name="Text 7"/>
          <p:cNvSpPr/>
          <p:nvPr/>
        </p:nvSpPr>
        <p:spPr>
          <a:xfrm>
            <a:off x="548640" y="2468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2</a:t>
            </a:r>
            <a:endParaRPr lang="en-US" sz="2400" dirty="0"/>
          </a:p>
        </p:txBody>
      </p:sp>
      <p:sp>
        <p:nvSpPr>
          <p:cNvPr id="10" name="Text 8"/>
          <p:cNvSpPr/>
          <p:nvPr/>
        </p:nvSpPr>
        <p:spPr>
          <a:xfrm>
            <a:off x="1371600" y="2450592"/>
            <a:ext cx="7315200" cy="365760"/>
          </a:xfrm>
          <a:prstGeom prst="rect">
            <a:avLst/>
          </a:prstGeom>
          <a:noFill/>
          <a:ln/>
        </p:spPr>
        <p:txBody>
          <a:bodyPr wrap="square" lIns="0" tIns="0" rIns="0" bIns="0" rtlCol="0" anchor="ctr"/>
          <a:lstStyle/>
          <a:p>
            <a:pPr indent="0" marL="0">
              <a:buNone/>
            </a:pPr>
            <a:r>
              <a:rPr lang="en-US" sz="1700" b="1" dirty="0">
                <a:solidFill>
                  <a:srgbClr val="1F2120"/>
                </a:solidFill>
                <a:latin typeface="Arial Black" pitchFamily="34" charset="0"/>
                <a:ea typeface="Arial Black" pitchFamily="34" charset="-122"/>
                <a:cs typeface="Arial Black" pitchFamily="34" charset="-120"/>
              </a:rPr>
              <a:t>There is no “sales” column</a:t>
            </a:r>
            <a:endParaRPr lang="en-US" sz="1700" dirty="0"/>
          </a:p>
        </p:txBody>
      </p:sp>
      <p:sp>
        <p:nvSpPr>
          <p:cNvPr id="11" name="Text 9"/>
          <p:cNvSpPr/>
          <p:nvPr/>
        </p:nvSpPr>
        <p:spPr>
          <a:xfrm>
            <a:off x="1371600" y="2834640"/>
            <a:ext cx="7315200" cy="365760"/>
          </a:xfrm>
          <a:prstGeom prst="rect">
            <a:avLst/>
          </a:prstGeom>
          <a:noFill/>
          <a:ln/>
        </p:spPr>
        <p:txBody>
          <a:bodyPr wrap="square" lIns="0" tIns="0" rIns="0" bIns="0" rtlCol="0" anchor="ctr"/>
          <a:lstStyle/>
          <a:p>
            <a:pPr indent="0" marL="0">
              <a:buNone/>
            </a:pPr>
            <a:r>
              <a:rPr lang="en-US" sz="1300" dirty="0">
                <a:solidFill>
                  <a:srgbClr val="707070"/>
                </a:solidFill>
                <a:latin typeface="Arial" pitchFamily="34" charset="0"/>
                <a:ea typeface="Arial" pitchFamily="34" charset="-122"/>
                <a:cs typeface="Arial" pitchFamily="34" charset="-120"/>
              </a:rPr>
              <a:t>Spend lives in six separate columns. “Total sales” has to be built first.</a:t>
            </a:r>
            <a:endParaRPr lang="en-US" sz="1300" dirty="0"/>
          </a:p>
        </p:txBody>
      </p:sp>
      <p:sp>
        <p:nvSpPr>
          <p:cNvPr id="12" name="Shape 10"/>
          <p:cNvSpPr/>
          <p:nvPr/>
        </p:nvSpPr>
        <p:spPr>
          <a:xfrm>
            <a:off x="548640" y="3383280"/>
            <a:ext cx="640080" cy="640080"/>
          </a:xfrm>
          <a:prstGeom prst="ellipse">
            <a:avLst/>
          </a:prstGeom>
          <a:solidFill>
            <a:srgbClr val="CF3338"/>
          </a:solidFill>
          <a:ln w="12700">
            <a:solidFill>
              <a:srgbClr val="CF3338"/>
            </a:solidFill>
            <a:prstDash val="solid"/>
          </a:ln>
        </p:spPr>
      </p:sp>
      <p:sp>
        <p:nvSpPr>
          <p:cNvPr id="13" name="Text 11"/>
          <p:cNvSpPr/>
          <p:nvPr/>
        </p:nvSpPr>
        <p:spPr>
          <a:xfrm>
            <a:off x="548640" y="33832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3</a:t>
            </a:r>
            <a:endParaRPr lang="en-US" sz="2400" dirty="0"/>
          </a:p>
        </p:txBody>
      </p:sp>
      <p:sp>
        <p:nvSpPr>
          <p:cNvPr id="14" name="Text 12"/>
          <p:cNvSpPr/>
          <p:nvPr/>
        </p:nvSpPr>
        <p:spPr>
          <a:xfrm>
            <a:off x="1371600" y="3364992"/>
            <a:ext cx="7315200" cy="365760"/>
          </a:xfrm>
          <a:prstGeom prst="rect">
            <a:avLst/>
          </a:prstGeom>
          <a:noFill/>
          <a:ln/>
        </p:spPr>
        <p:txBody>
          <a:bodyPr wrap="square" lIns="0" tIns="0" rIns="0" bIns="0" rtlCol="0" anchor="ctr"/>
          <a:lstStyle/>
          <a:p>
            <a:pPr indent="0" marL="0">
              <a:buNone/>
            </a:pPr>
            <a:r>
              <a:rPr lang="en-US" sz="1700" b="1" dirty="0">
                <a:solidFill>
                  <a:srgbClr val="1F2120"/>
                </a:solidFill>
                <a:latin typeface="Arial Black" pitchFamily="34" charset="0"/>
                <a:ea typeface="Arial Black" pitchFamily="34" charset="-122"/>
                <a:cs typeface="Arial Black" pitchFamily="34" charset="-120"/>
              </a:rPr>
              <a:t>Wide format, not tidy</a:t>
            </a:r>
            <a:endParaRPr lang="en-US" sz="1700" dirty="0"/>
          </a:p>
        </p:txBody>
      </p:sp>
      <p:sp>
        <p:nvSpPr>
          <p:cNvPr id="15" name="Text 13"/>
          <p:cNvSpPr/>
          <p:nvPr/>
        </p:nvSpPr>
        <p:spPr>
          <a:xfrm>
            <a:off x="1371600" y="3749040"/>
            <a:ext cx="7315200" cy="365760"/>
          </a:xfrm>
          <a:prstGeom prst="rect">
            <a:avLst/>
          </a:prstGeom>
          <a:noFill/>
          <a:ln/>
        </p:spPr>
        <p:txBody>
          <a:bodyPr wrap="square" lIns="0" tIns="0" rIns="0" bIns="0" rtlCol="0" anchor="ctr"/>
          <a:lstStyle/>
          <a:p>
            <a:pPr indent="0" marL="0">
              <a:buNone/>
            </a:pPr>
            <a:r>
              <a:rPr lang="en-US" sz="1300" dirty="0">
                <a:solidFill>
                  <a:srgbClr val="707070"/>
                </a:solidFill>
                <a:latin typeface="Arial" pitchFamily="34" charset="0"/>
                <a:ea typeface="Arial" pitchFamily="34" charset="-122"/>
                <a:cs typeface="Arial" pitchFamily="34" charset="-120"/>
              </a:rPr>
              <a:t>Each row holds 6 values. The tool doesn't know which to add, or that all 6 should be.</a:t>
            </a:r>
            <a:endParaRPr lang="en-US" sz="1300" dirty="0"/>
          </a:p>
        </p:txBody>
      </p:sp>
      <p:sp>
        <p:nvSpPr>
          <p:cNvPr id="16" name="Text 14"/>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F2120"/>
                </a:solidFill>
                <a:latin typeface="Arial Black" pitchFamily="34" charset="0"/>
                <a:ea typeface="Arial Black" pitchFamily="34" charset="-122"/>
                <a:cs typeface="Arial Black" pitchFamily="34" charset="-120"/>
              </a:rPr>
              <a:t>Bring in Copilot to diagnose</a:t>
            </a:r>
            <a:endParaRPr lang="en-US" sz="3000" dirty="0"/>
          </a:p>
        </p:txBody>
      </p:sp>
      <p:sp>
        <p:nvSpPr>
          <p:cNvPr id="3" name="Text 1"/>
          <p:cNvSpPr/>
          <p:nvPr/>
        </p:nvSpPr>
        <p:spPr>
          <a:xfrm>
            <a:off x="457200" y="960120"/>
            <a:ext cx="8229600" cy="365760"/>
          </a:xfrm>
          <a:prstGeom prst="rect">
            <a:avLst/>
          </a:prstGeom>
          <a:noFill/>
          <a:ln/>
        </p:spPr>
        <p:txBody>
          <a:bodyPr wrap="square" lIns="0" tIns="0" rIns="0" bIns="0" rtlCol="0" anchor="ctr"/>
          <a:lstStyle/>
          <a:p>
            <a:pPr indent="0" marL="0">
              <a:buNone/>
            </a:pPr>
            <a:r>
              <a:rPr lang="en-US" sz="1400" i="1" dirty="0">
                <a:solidFill>
                  <a:srgbClr val="707070"/>
                </a:solidFill>
                <a:latin typeface="Arial" pitchFamily="34" charset="0"/>
                <a:ea typeface="Arial" pitchFamily="34" charset="-122"/>
                <a:cs typeface="Arial" pitchFamily="34" charset="-120"/>
              </a:rPr>
              <a:t>Same workbook. A bigger model. A different question.</a:t>
            </a:r>
            <a:endParaRPr lang="en-US" sz="1400" dirty="0"/>
          </a:p>
        </p:txBody>
      </p:sp>
      <p:sp>
        <p:nvSpPr>
          <p:cNvPr id="4" name="Shape 2"/>
          <p:cNvSpPr/>
          <p:nvPr/>
        </p:nvSpPr>
        <p:spPr>
          <a:xfrm>
            <a:off x="457200" y="1508760"/>
            <a:ext cx="8229600" cy="1371600"/>
          </a:xfrm>
          <a:prstGeom prst="rect">
            <a:avLst/>
          </a:prstGeom>
          <a:solidFill>
            <a:srgbClr val="FFFFFF"/>
          </a:solidFill>
          <a:ln w="19050">
            <a:solidFill>
              <a:srgbClr val="CF3338"/>
            </a:solidFill>
            <a:prstDash val="solid"/>
          </a:ln>
        </p:spPr>
      </p:sp>
      <p:sp>
        <p:nvSpPr>
          <p:cNvPr id="5" name="Shape 3"/>
          <p:cNvSpPr/>
          <p:nvPr/>
        </p:nvSpPr>
        <p:spPr>
          <a:xfrm>
            <a:off x="457200" y="1508760"/>
            <a:ext cx="137160" cy="1371600"/>
          </a:xfrm>
          <a:prstGeom prst="rect">
            <a:avLst/>
          </a:prstGeom>
          <a:solidFill>
            <a:srgbClr val="CF3338"/>
          </a:solidFill>
          <a:ln w="12700">
            <a:solidFill>
              <a:srgbClr val="CF3338"/>
            </a:solidFill>
            <a:prstDash val="solid"/>
          </a:ln>
        </p:spPr>
      </p:sp>
      <p:sp>
        <p:nvSpPr>
          <p:cNvPr id="6" name="Text 4"/>
          <p:cNvSpPr/>
          <p:nvPr/>
        </p:nvSpPr>
        <p:spPr>
          <a:xfrm>
            <a:off x="777240" y="1600200"/>
            <a:ext cx="7680960" cy="1234440"/>
          </a:xfrm>
          <a:prstGeom prst="rect">
            <a:avLst/>
          </a:prstGeom>
          <a:noFill/>
          <a:ln/>
        </p:spPr>
        <p:txBody>
          <a:bodyPr wrap="square" lIns="0" tIns="0" rIns="0" bIns="0" rtlCol="0" anchor="t"/>
          <a:lstStyle/>
          <a:p>
            <a:pPr indent="0" marL="0">
              <a:buNone/>
            </a:pPr>
            <a:r>
              <a:rPr lang="en-US" sz="1300" b="1" dirty="0">
                <a:solidFill>
                  <a:srgbClr val="CF3338"/>
                </a:solidFill>
                <a:latin typeface="Arial Black" pitchFamily="34" charset="0"/>
                <a:ea typeface="Arial Black" pitchFamily="34" charset="-122"/>
                <a:cs typeface="Arial Black" pitchFamily="34" charset="-120"/>
              </a:rPr>
              <a:t>Prompt to Copilot</a:t>
            </a:r>
            <a:endParaRPr lang="en-US" sz="1300" dirty="0"/>
          </a:p>
          <a:p>
            <a:pPr indent="0" marL="0">
              <a:buNone/>
            </a:pPr>
            <a:r>
              <a:rPr lang="en-US" sz="1300" dirty="0">
                <a:solidFill>
                  <a:srgbClr val="000000"/>
                </a:solidFill>
              </a:rPr>
              <a:t> </a:t>
            </a:r>
            <a:endParaRPr lang="en-US" sz="1300" dirty="0"/>
          </a:p>
          <a:p>
            <a:pPr indent="0" marL="0">
              <a:buNone/>
            </a:pPr>
            <a:r>
              <a:rPr lang="en-US" sz="1300" i="1" dirty="0">
                <a:solidFill>
                  <a:srgbClr val="1F2120"/>
                </a:solidFill>
                <a:latin typeface="Arial" pitchFamily="34" charset="0"/>
                <a:ea typeface="Arial" pitchFamily="34" charset="-122"/>
                <a:cs typeface="Arial" pitchFamily="34" charset="-120"/>
              </a:rPr>
              <a:t>“I tried to get total sales by channel from this table and the answer looked wrong. What about the shape of this data is making that hard, and what would I need to change in Excel to get a clean answer?”</a:t>
            </a:r>
            <a:endParaRPr lang="en-US" sz="1300" dirty="0"/>
          </a:p>
        </p:txBody>
      </p:sp>
      <p:sp>
        <p:nvSpPr>
          <p:cNvPr id="7" name="Text 5"/>
          <p:cNvSpPr/>
          <p:nvPr/>
        </p:nvSpPr>
        <p:spPr>
          <a:xfrm>
            <a:off x="457200" y="3017520"/>
            <a:ext cx="8229600" cy="365760"/>
          </a:xfrm>
          <a:prstGeom prst="rect">
            <a:avLst/>
          </a:prstGeom>
          <a:noFill/>
          <a:ln/>
        </p:spPr>
        <p:txBody>
          <a:bodyPr wrap="square" lIns="0" tIns="0" rIns="0" bIns="0" rtlCol="0" anchor="ctr"/>
          <a:lstStyle/>
          <a:p>
            <a:pPr indent="0" marL="0">
              <a:buNone/>
            </a:pPr>
            <a:r>
              <a:rPr lang="en-US" sz="1600" b="1" dirty="0">
                <a:solidFill>
                  <a:srgbClr val="1F2120"/>
                </a:solidFill>
                <a:latin typeface="Arial Black" pitchFamily="34" charset="0"/>
                <a:ea typeface="Arial Black" pitchFamily="34" charset="-122"/>
                <a:cs typeface="Arial Black" pitchFamily="34" charset="-120"/>
              </a:rPr>
              <a:t>What it tells us</a:t>
            </a:r>
            <a:endParaRPr lang="en-US" sz="1600" dirty="0"/>
          </a:p>
        </p:txBody>
      </p:sp>
      <p:sp>
        <p:nvSpPr>
          <p:cNvPr id="8" name="Text 6"/>
          <p:cNvSpPr/>
          <p:nvPr/>
        </p:nvSpPr>
        <p:spPr>
          <a:xfrm>
            <a:off x="457200" y="3337560"/>
            <a:ext cx="8229600" cy="1280160"/>
          </a:xfrm>
          <a:prstGeom prst="rect">
            <a:avLst/>
          </a:prstGeom>
          <a:noFill/>
          <a:ln/>
        </p:spPr>
        <p:txBody>
          <a:bodyPr wrap="square" rtlCol="0" anchor="ctr"/>
          <a:lstStyle/>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Channel codes need real labels (HoReCa, Retail).</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Spend columns should be unpivoted into one Spend column with a Category column.</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Build the fix in Power Query so it runs the same way every time.</a:t>
            </a:r>
            <a:endParaRPr lang="en-US" sz="1300" dirty="0"/>
          </a:p>
        </p:txBody>
      </p:sp>
      <p:sp>
        <p:nvSpPr>
          <p:cNvPr id="9" name="Text 7"/>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F2120"/>
                </a:solidFill>
                <a:latin typeface="Arial Black" pitchFamily="34" charset="0"/>
                <a:ea typeface="Arial Black" pitchFamily="34" charset="-122"/>
                <a:cs typeface="Arial Black" pitchFamily="34" charset="-120"/>
              </a:rPr>
              <a:t>The fix lives in Power Query</a:t>
            </a:r>
            <a:endParaRPr lang="en-US" sz="3000" dirty="0"/>
          </a:p>
        </p:txBody>
      </p:sp>
      <p:sp>
        <p:nvSpPr>
          <p:cNvPr id="3" name="Text 1"/>
          <p:cNvSpPr/>
          <p:nvPr/>
        </p:nvSpPr>
        <p:spPr>
          <a:xfrm>
            <a:off x="457200" y="960120"/>
            <a:ext cx="8229600" cy="365760"/>
          </a:xfrm>
          <a:prstGeom prst="rect">
            <a:avLst/>
          </a:prstGeom>
          <a:noFill/>
          <a:ln/>
        </p:spPr>
        <p:txBody>
          <a:bodyPr wrap="square" lIns="0" tIns="0" rIns="0" bIns="0" rtlCol="0" anchor="ctr"/>
          <a:lstStyle/>
          <a:p>
            <a:pPr indent="0" marL="0">
              <a:buNone/>
            </a:pPr>
            <a:r>
              <a:rPr lang="en-US" sz="1400" i="1" dirty="0">
                <a:solidFill>
                  <a:srgbClr val="707070"/>
                </a:solidFill>
                <a:latin typeface="Arial" pitchFamily="34" charset="0"/>
                <a:ea typeface="Arial" pitchFamily="34" charset="-122"/>
                <a:cs typeface="Arial" pitchFamily="34" charset="-120"/>
              </a:rPr>
              <a:t>Three steps. Saved. Repeatable on every refresh.</a:t>
            </a:r>
            <a:endParaRPr lang="en-US" sz="1400" dirty="0"/>
          </a:p>
        </p:txBody>
      </p:sp>
      <p:sp>
        <p:nvSpPr>
          <p:cNvPr id="4" name="Shape 2"/>
          <p:cNvSpPr/>
          <p:nvPr/>
        </p:nvSpPr>
        <p:spPr>
          <a:xfrm>
            <a:off x="457200" y="1508760"/>
            <a:ext cx="2743200" cy="2926080"/>
          </a:xfrm>
          <a:prstGeom prst="rect">
            <a:avLst/>
          </a:prstGeom>
          <a:solidFill>
            <a:srgbClr val="FFFFFF"/>
          </a:solidFill>
          <a:ln w="12700">
            <a:solidFill>
              <a:srgbClr val="DDDDDD"/>
            </a:solidFill>
            <a:prstDash val="solid"/>
          </a:ln>
        </p:spPr>
      </p:sp>
      <p:sp>
        <p:nvSpPr>
          <p:cNvPr id="5" name="Shape 3"/>
          <p:cNvSpPr/>
          <p:nvPr/>
        </p:nvSpPr>
        <p:spPr>
          <a:xfrm>
            <a:off x="457200" y="1508760"/>
            <a:ext cx="2743200" cy="502920"/>
          </a:xfrm>
          <a:prstGeom prst="rect">
            <a:avLst/>
          </a:prstGeom>
          <a:solidFill>
            <a:srgbClr val="CF3338"/>
          </a:solidFill>
          <a:ln w="12700">
            <a:solidFill>
              <a:srgbClr val="CF3338"/>
            </a:solidFill>
            <a:prstDash val="solid"/>
          </a:ln>
        </p:spPr>
      </p:sp>
      <p:sp>
        <p:nvSpPr>
          <p:cNvPr id="6" name="Text 4"/>
          <p:cNvSpPr/>
          <p:nvPr/>
        </p:nvSpPr>
        <p:spPr>
          <a:xfrm>
            <a:off x="457200" y="1508760"/>
            <a:ext cx="274320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Arial Black" pitchFamily="34" charset="0"/>
                <a:ea typeface="Arial Black" pitchFamily="34" charset="-122"/>
                <a:cs typeface="Arial Black" pitchFamily="34" charset="-120"/>
              </a:rPr>
              <a:t>STEP 1</a:t>
            </a:r>
            <a:endParaRPr lang="en-US" sz="1200" dirty="0"/>
          </a:p>
        </p:txBody>
      </p:sp>
      <p:sp>
        <p:nvSpPr>
          <p:cNvPr id="7" name="Text 5"/>
          <p:cNvSpPr/>
          <p:nvPr/>
        </p:nvSpPr>
        <p:spPr>
          <a:xfrm>
            <a:off x="640080" y="2103120"/>
            <a:ext cx="2377440" cy="640080"/>
          </a:xfrm>
          <a:prstGeom prst="rect">
            <a:avLst/>
          </a:prstGeom>
          <a:noFill/>
          <a:ln/>
        </p:spPr>
        <p:txBody>
          <a:bodyPr wrap="square" lIns="0" tIns="0" rIns="0" bIns="0" rtlCol="0" anchor="ctr"/>
          <a:lstStyle/>
          <a:p>
            <a:pPr indent="0" marL="0">
              <a:buNone/>
            </a:pPr>
            <a:r>
              <a:rPr lang="en-US" sz="1500" b="1" dirty="0">
                <a:solidFill>
                  <a:srgbClr val="1F2120"/>
                </a:solidFill>
                <a:latin typeface="Arial Black" pitchFamily="34" charset="0"/>
                <a:ea typeface="Arial Black" pitchFamily="34" charset="-122"/>
                <a:cs typeface="Arial Black" pitchFamily="34" charset="-120"/>
              </a:rPr>
              <a:t>Replace codes with labels</a:t>
            </a:r>
            <a:endParaRPr lang="en-US" sz="1500" dirty="0"/>
          </a:p>
        </p:txBody>
      </p:sp>
      <p:sp>
        <p:nvSpPr>
          <p:cNvPr id="8" name="Text 6"/>
          <p:cNvSpPr/>
          <p:nvPr/>
        </p:nvSpPr>
        <p:spPr>
          <a:xfrm>
            <a:off x="640080" y="2743200"/>
            <a:ext cx="2377440" cy="1554480"/>
          </a:xfrm>
          <a:prstGeom prst="rect">
            <a:avLst/>
          </a:prstGeom>
          <a:noFill/>
          <a:ln/>
        </p:spPr>
        <p:txBody>
          <a:bodyPr wrap="square" rtlCol="0" anchor="t"/>
          <a:lstStyle/>
          <a:p>
            <a:pPr indent="0" marL="0">
              <a:buNone/>
            </a:pPr>
            <a:r>
              <a:rPr lang="en-US" sz="1200" dirty="0">
                <a:solidFill>
                  <a:srgbClr val="707070"/>
                </a:solidFill>
                <a:latin typeface="Arial" pitchFamily="34" charset="0"/>
                <a:ea typeface="Arial" pitchFamily="34" charset="-122"/>
                <a:cs typeface="Arial" pitchFamily="34" charset="-120"/>
              </a:rPr>
              <a:t>Channel: 1 → HoReCa, 2 → Retail. Region: 1 → Lisbon, 2 → Oporto, 3 → Other.</a:t>
            </a:r>
            <a:endParaRPr lang="en-US" sz="1200" dirty="0"/>
          </a:p>
        </p:txBody>
      </p:sp>
      <p:sp>
        <p:nvSpPr>
          <p:cNvPr id="9" name="Shape 7"/>
          <p:cNvSpPr/>
          <p:nvPr/>
        </p:nvSpPr>
        <p:spPr>
          <a:xfrm>
            <a:off x="3291840" y="1508760"/>
            <a:ext cx="2743200" cy="2926080"/>
          </a:xfrm>
          <a:prstGeom prst="rect">
            <a:avLst/>
          </a:prstGeom>
          <a:solidFill>
            <a:srgbClr val="FFFFFF"/>
          </a:solidFill>
          <a:ln w="12700">
            <a:solidFill>
              <a:srgbClr val="DDDDDD"/>
            </a:solidFill>
            <a:prstDash val="solid"/>
          </a:ln>
        </p:spPr>
      </p:sp>
      <p:sp>
        <p:nvSpPr>
          <p:cNvPr id="10" name="Shape 8"/>
          <p:cNvSpPr/>
          <p:nvPr/>
        </p:nvSpPr>
        <p:spPr>
          <a:xfrm>
            <a:off x="3291840" y="1508760"/>
            <a:ext cx="2743200" cy="502920"/>
          </a:xfrm>
          <a:prstGeom prst="rect">
            <a:avLst/>
          </a:prstGeom>
          <a:solidFill>
            <a:srgbClr val="CF3338"/>
          </a:solidFill>
          <a:ln w="12700">
            <a:solidFill>
              <a:srgbClr val="CF3338"/>
            </a:solidFill>
            <a:prstDash val="solid"/>
          </a:ln>
        </p:spPr>
      </p:sp>
      <p:sp>
        <p:nvSpPr>
          <p:cNvPr id="11" name="Text 9"/>
          <p:cNvSpPr/>
          <p:nvPr/>
        </p:nvSpPr>
        <p:spPr>
          <a:xfrm>
            <a:off x="3291840" y="1508760"/>
            <a:ext cx="274320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Arial Black" pitchFamily="34" charset="0"/>
                <a:ea typeface="Arial Black" pitchFamily="34" charset="-122"/>
                <a:cs typeface="Arial Black" pitchFamily="34" charset="-120"/>
              </a:rPr>
              <a:t>STEP 2</a:t>
            </a:r>
            <a:endParaRPr lang="en-US" sz="1200" dirty="0"/>
          </a:p>
        </p:txBody>
      </p:sp>
      <p:sp>
        <p:nvSpPr>
          <p:cNvPr id="12" name="Text 10"/>
          <p:cNvSpPr/>
          <p:nvPr/>
        </p:nvSpPr>
        <p:spPr>
          <a:xfrm>
            <a:off x="3474720" y="2103120"/>
            <a:ext cx="2377440" cy="640080"/>
          </a:xfrm>
          <a:prstGeom prst="rect">
            <a:avLst/>
          </a:prstGeom>
          <a:noFill/>
          <a:ln/>
        </p:spPr>
        <p:txBody>
          <a:bodyPr wrap="square" lIns="0" tIns="0" rIns="0" bIns="0" rtlCol="0" anchor="ctr"/>
          <a:lstStyle/>
          <a:p>
            <a:pPr indent="0" marL="0">
              <a:buNone/>
            </a:pPr>
            <a:r>
              <a:rPr lang="en-US" sz="1500" b="1" dirty="0">
                <a:solidFill>
                  <a:srgbClr val="1F2120"/>
                </a:solidFill>
                <a:latin typeface="Arial Black" pitchFamily="34" charset="0"/>
                <a:ea typeface="Arial Black" pitchFamily="34" charset="-122"/>
                <a:cs typeface="Arial Black" pitchFamily="34" charset="-120"/>
              </a:rPr>
              <a:t>Unpivot the 6 spend columns</a:t>
            </a:r>
            <a:endParaRPr lang="en-US" sz="1500" dirty="0"/>
          </a:p>
        </p:txBody>
      </p:sp>
      <p:sp>
        <p:nvSpPr>
          <p:cNvPr id="13" name="Text 11"/>
          <p:cNvSpPr/>
          <p:nvPr/>
        </p:nvSpPr>
        <p:spPr>
          <a:xfrm>
            <a:off x="3474720" y="2743200"/>
            <a:ext cx="2377440" cy="1554480"/>
          </a:xfrm>
          <a:prstGeom prst="rect">
            <a:avLst/>
          </a:prstGeom>
          <a:noFill/>
          <a:ln/>
        </p:spPr>
        <p:txBody>
          <a:bodyPr wrap="square" rtlCol="0" anchor="t"/>
          <a:lstStyle/>
          <a:p>
            <a:pPr indent="0" marL="0">
              <a:buNone/>
            </a:pPr>
            <a:r>
              <a:rPr lang="en-US" sz="1200" dirty="0">
                <a:solidFill>
                  <a:srgbClr val="707070"/>
                </a:solidFill>
                <a:latin typeface="Arial" pitchFamily="34" charset="0"/>
                <a:ea typeface="Arial" pitchFamily="34" charset="-122"/>
                <a:cs typeface="Arial" pitchFamily="34" charset="-120"/>
              </a:rPr>
              <a:t>Six wide columns collapse into two: Category and Spend. One row per customer-category.</a:t>
            </a:r>
            <a:endParaRPr lang="en-US" sz="1200" dirty="0"/>
          </a:p>
        </p:txBody>
      </p:sp>
      <p:sp>
        <p:nvSpPr>
          <p:cNvPr id="14" name="Shape 12"/>
          <p:cNvSpPr/>
          <p:nvPr/>
        </p:nvSpPr>
        <p:spPr>
          <a:xfrm>
            <a:off x="6126480" y="1508760"/>
            <a:ext cx="2743200" cy="2926080"/>
          </a:xfrm>
          <a:prstGeom prst="rect">
            <a:avLst/>
          </a:prstGeom>
          <a:solidFill>
            <a:srgbClr val="FFFFFF"/>
          </a:solidFill>
          <a:ln w="12700">
            <a:solidFill>
              <a:srgbClr val="DDDDDD"/>
            </a:solidFill>
            <a:prstDash val="solid"/>
          </a:ln>
        </p:spPr>
      </p:sp>
      <p:sp>
        <p:nvSpPr>
          <p:cNvPr id="15" name="Shape 13"/>
          <p:cNvSpPr/>
          <p:nvPr/>
        </p:nvSpPr>
        <p:spPr>
          <a:xfrm>
            <a:off x="6126480" y="1508760"/>
            <a:ext cx="2743200" cy="502920"/>
          </a:xfrm>
          <a:prstGeom prst="rect">
            <a:avLst/>
          </a:prstGeom>
          <a:solidFill>
            <a:srgbClr val="CF3338"/>
          </a:solidFill>
          <a:ln w="12700">
            <a:solidFill>
              <a:srgbClr val="CF3338"/>
            </a:solidFill>
            <a:prstDash val="solid"/>
          </a:ln>
        </p:spPr>
      </p:sp>
      <p:sp>
        <p:nvSpPr>
          <p:cNvPr id="16" name="Text 14"/>
          <p:cNvSpPr/>
          <p:nvPr/>
        </p:nvSpPr>
        <p:spPr>
          <a:xfrm>
            <a:off x="6126480" y="1508760"/>
            <a:ext cx="2743200" cy="502920"/>
          </a:xfrm>
          <a:prstGeom prst="rect">
            <a:avLst/>
          </a:prstGeom>
          <a:noFill/>
          <a:ln/>
        </p:spPr>
        <p:txBody>
          <a:bodyPr wrap="square" lIns="0" tIns="0" rIns="0" bIns="0" rtlCol="0" anchor="ctr"/>
          <a:lstStyle/>
          <a:p>
            <a:pPr algn="ctr" indent="0" marL="0">
              <a:buNone/>
            </a:pPr>
            <a:r>
              <a:rPr lang="en-US" sz="1200" b="1" spc="300" kern="0" dirty="0">
                <a:solidFill>
                  <a:srgbClr val="FFFFFF"/>
                </a:solidFill>
                <a:latin typeface="Arial Black" pitchFamily="34" charset="0"/>
                <a:ea typeface="Arial Black" pitchFamily="34" charset="-122"/>
                <a:cs typeface="Arial Black" pitchFamily="34" charset="-120"/>
              </a:rPr>
              <a:t>STEP 3</a:t>
            </a:r>
            <a:endParaRPr lang="en-US" sz="1200" dirty="0"/>
          </a:p>
        </p:txBody>
      </p:sp>
      <p:sp>
        <p:nvSpPr>
          <p:cNvPr id="17" name="Text 15"/>
          <p:cNvSpPr/>
          <p:nvPr/>
        </p:nvSpPr>
        <p:spPr>
          <a:xfrm>
            <a:off x="6309360" y="2103120"/>
            <a:ext cx="2377440" cy="640080"/>
          </a:xfrm>
          <a:prstGeom prst="rect">
            <a:avLst/>
          </a:prstGeom>
          <a:noFill/>
          <a:ln/>
        </p:spPr>
        <p:txBody>
          <a:bodyPr wrap="square" lIns="0" tIns="0" rIns="0" bIns="0" rtlCol="0" anchor="ctr"/>
          <a:lstStyle/>
          <a:p>
            <a:pPr indent="0" marL="0">
              <a:buNone/>
            </a:pPr>
            <a:r>
              <a:rPr lang="en-US" sz="1500" b="1" dirty="0">
                <a:solidFill>
                  <a:srgbClr val="1F2120"/>
                </a:solidFill>
                <a:latin typeface="Arial Black" pitchFamily="34" charset="0"/>
                <a:ea typeface="Arial Black" pitchFamily="34" charset="-122"/>
                <a:cs typeface="Arial Black" pitchFamily="34" charset="-120"/>
              </a:rPr>
              <a:t>Now the question is trivial</a:t>
            </a:r>
            <a:endParaRPr lang="en-US" sz="1500" dirty="0"/>
          </a:p>
        </p:txBody>
      </p:sp>
      <p:sp>
        <p:nvSpPr>
          <p:cNvPr id="18" name="Text 16"/>
          <p:cNvSpPr/>
          <p:nvPr/>
        </p:nvSpPr>
        <p:spPr>
          <a:xfrm>
            <a:off x="6309360" y="2743200"/>
            <a:ext cx="2377440" cy="1554480"/>
          </a:xfrm>
          <a:prstGeom prst="rect">
            <a:avLst/>
          </a:prstGeom>
          <a:noFill/>
          <a:ln/>
        </p:spPr>
        <p:txBody>
          <a:bodyPr wrap="square" rtlCol="0" anchor="t"/>
          <a:lstStyle/>
          <a:p>
            <a:pPr indent="0" marL="0">
              <a:buNone/>
            </a:pPr>
            <a:r>
              <a:rPr lang="en-US" sz="1200" dirty="0">
                <a:solidFill>
                  <a:srgbClr val="707070"/>
                </a:solidFill>
                <a:latin typeface="Arial" pitchFamily="34" charset="0"/>
                <a:ea typeface="Arial" pitchFamily="34" charset="-122"/>
                <a:cs typeface="Arial" pitchFamily="34" charset="-120"/>
              </a:rPr>
              <a:t>Group by Channel, Sum of Spend. Same answer every time, on any refresh.</a:t>
            </a:r>
            <a:endParaRPr lang="en-US" sz="1200" dirty="0"/>
          </a:p>
        </p:txBody>
      </p:sp>
      <p:sp>
        <p:nvSpPr>
          <p:cNvPr id="19" name="Text 17"/>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The mental model to keep</a:t>
            </a:r>
            <a:endParaRPr lang="en-US" sz="2800" dirty="0"/>
          </a:p>
        </p:txBody>
      </p:sp>
      <p:sp>
        <p:nvSpPr>
          <p:cNvPr id="3" name="Shape 1"/>
          <p:cNvSpPr/>
          <p:nvPr/>
        </p:nvSpPr>
        <p:spPr>
          <a:xfrm>
            <a:off x="457200" y="1280160"/>
            <a:ext cx="3931920" cy="3108960"/>
          </a:xfrm>
          <a:prstGeom prst="rect">
            <a:avLst/>
          </a:prstGeom>
          <a:solidFill>
            <a:srgbClr val="FFFFFF"/>
          </a:solidFill>
          <a:ln w="12700">
            <a:solidFill>
              <a:srgbClr val="FFFFFF"/>
            </a:solidFill>
            <a:prstDash val="solid"/>
          </a:ln>
        </p:spPr>
      </p:sp>
      <p:sp>
        <p:nvSpPr>
          <p:cNvPr id="4" name="Text 2"/>
          <p:cNvSpPr/>
          <p:nvPr/>
        </p:nvSpPr>
        <p:spPr>
          <a:xfrm>
            <a:off x="457200" y="1417320"/>
            <a:ext cx="3931920" cy="457200"/>
          </a:xfrm>
          <a:prstGeom prst="rect">
            <a:avLst/>
          </a:prstGeom>
          <a:noFill/>
          <a:ln/>
        </p:spPr>
        <p:txBody>
          <a:bodyPr wrap="square" lIns="0" tIns="0" rIns="0" bIns="0" rtlCol="0" anchor="ctr"/>
          <a:lstStyle/>
          <a:p>
            <a:pPr algn="ctr" indent="0" marL="0">
              <a:buNone/>
            </a:pPr>
            <a:r>
              <a:rPr lang="en-US" sz="2200" b="1" dirty="0">
                <a:solidFill>
                  <a:srgbClr val="CF3338"/>
                </a:solidFill>
                <a:latin typeface="Arial Black" pitchFamily="34" charset="0"/>
                <a:ea typeface="Arial Black" pitchFamily="34" charset="-122"/>
                <a:cs typeface="Arial Black" pitchFamily="34" charset="-120"/>
              </a:rPr>
              <a:t>Probabilistic</a:t>
            </a:r>
            <a:endParaRPr lang="en-US" sz="2200" dirty="0"/>
          </a:p>
        </p:txBody>
      </p:sp>
      <p:sp>
        <p:nvSpPr>
          <p:cNvPr id="5" name="Text 3"/>
          <p:cNvSpPr/>
          <p:nvPr/>
        </p:nvSpPr>
        <p:spPr>
          <a:xfrm>
            <a:off x="457200" y="1874520"/>
            <a:ext cx="3931920" cy="365760"/>
          </a:xfrm>
          <a:prstGeom prst="rect">
            <a:avLst/>
          </a:prstGeom>
          <a:noFill/>
          <a:ln/>
        </p:spPr>
        <p:txBody>
          <a:bodyPr wrap="square" lIns="0" tIns="0" rIns="0" bIns="0" rtlCol="0" anchor="ctr"/>
          <a:lstStyle/>
          <a:p>
            <a:pPr algn="ctr" indent="0" marL="0">
              <a:buNone/>
            </a:pPr>
            <a:r>
              <a:rPr lang="en-US" sz="1300" i="1" dirty="0">
                <a:solidFill>
                  <a:srgbClr val="707070"/>
                </a:solidFill>
              </a:rPr>
              <a:t>Best guess from a model</a:t>
            </a:r>
            <a:endParaRPr lang="en-US" sz="1300" dirty="0"/>
          </a:p>
        </p:txBody>
      </p:sp>
      <p:sp>
        <p:nvSpPr>
          <p:cNvPr id="6" name="Text 4"/>
          <p:cNvSpPr/>
          <p:nvPr/>
        </p:nvSpPr>
        <p:spPr>
          <a:xfrm>
            <a:off x="731520" y="2331720"/>
            <a:ext cx="3474720" cy="1920240"/>
          </a:xfrm>
          <a:prstGeom prst="rect">
            <a:avLst/>
          </a:prstGeom>
          <a:noFill/>
          <a:ln/>
        </p:spPr>
        <p:txBody>
          <a:bodyPr wrap="square" rtlCol="0" anchor="ctr"/>
          <a:lstStyle/>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Analyze Data, Copilot chat, ChatGPT, Claude</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Fast, flexible, conversational</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Can be confidently wrong</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Different answer every time</a:t>
            </a:r>
            <a:endParaRPr lang="en-US" sz="1300" dirty="0"/>
          </a:p>
        </p:txBody>
      </p:sp>
      <p:sp>
        <p:nvSpPr>
          <p:cNvPr id="7" name="Shape 5"/>
          <p:cNvSpPr/>
          <p:nvPr/>
        </p:nvSpPr>
        <p:spPr>
          <a:xfrm>
            <a:off x="4754880" y="1280160"/>
            <a:ext cx="3931920" cy="3108960"/>
          </a:xfrm>
          <a:prstGeom prst="rect">
            <a:avLst/>
          </a:prstGeom>
          <a:solidFill>
            <a:srgbClr val="FFFFFF"/>
          </a:solidFill>
          <a:ln w="12700">
            <a:solidFill>
              <a:srgbClr val="FFFFFF"/>
            </a:solidFill>
            <a:prstDash val="solid"/>
          </a:ln>
        </p:spPr>
      </p:sp>
      <p:sp>
        <p:nvSpPr>
          <p:cNvPr id="8" name="Text 6"/>
          <p:cNvSpPr/>
          <p:nvPr/>
        </p:nvSpPr>
        <p:spPr>
          <a:xfrm>
            <a:off x="4754880" y="1417320"/>
            <a:ext cx="3931920" cy="457200"/>
          </a:xfrm>
          <a:prstGeom prst="rect">
            <a:avLst/>
          </a:prstGeom>
          <a:noFill/>
          <a:ln/>
        </p:spPr>
        <p:txBody>
          <a:bodyPr wrap="square" lIns="0" tIns="0" rIns="0" bIns="0" rtlCol="0" anchor="ctr"/>
          <a:lstStyle/>
          <a:p>
            <a:pPr algn="ctr" indent="0" marL="0">
              <a:buNone/>
            </a:pPr>
            <a:r>
              <a:rPr lang="en-US" sz="2200" b="1" dirty="0">
                <a:solidFill>
                  <a:srgbClr val="CF3338"/>
                </a:solidFill>
                <a:latin typeface="Arial Black" pitchFamily="34" charset="0"/>
                <a:ea typeface="Arial Black" pitchFamily="34" charset="-122"/>
                <a:cs typeface="Arial Black" pitchFamily="34" charset="-120"/>
              </a:rPr>
              <a:t>Deterministic</a:t>
            </a:r>
            <a:endParaRPr lang="en-US" sz="2200" dirty="0"/>
          </a:p>
        </p:txBody>
      </p:sp>
      <p:sp>
        <p:nvSpPr>
          <p:cNvPr id="9" name="Text 7"/>
          <p:cNvSpPr/>
          <p:nvPr/>
        </p:nvSpPr>
        <p:spPr>
          <a:xfrm>
            <a:off x="4754880" y="1874520"/>
            <a:ext cx="3931920" cy="365760"/>
          </a:xfrm>
          <a:prstGeom prst="rect">
            <a:avLst/>
          </a:prstGeom>
          <a:noFill/>
          <a:ln/>
        </p:spPr>
        <p:txBody>
          <a:bodyPr wrap="square" lIns="0" tIns="0" rIns="0" bIns="0" rtlCol="0" anchor="ctr"/>
          <a:lstStyle/>
          <a:p>
            <a:pPr algn="ctr" indent="0" marL="0">
              <a:buNone/>
            </a:pPr>
            <a:r>
              <a:rPr lang="en-US" sz="1300" i="1" dirty="0">
                <a:solidFill>
                  <a:srgbClr val="707070"/>
                </a:solidFill>
              </a:rPr>
              <a:t>Steps that always produce the same result</a:t>
            </a:r>
            <a:endParaRPr lang="en-US" sz="1300" dirty="0"/>
          </a:p>
        </p:txBody>
      </p:sp>
      <p:sp>
        <p:nvSpPr>
          <p:cNvPr id="10" name="Text 8"/>
          <p:cNvSpPr/>
          <p:nvPr/>
        </p:nvSpPr>
        <p:spPr>
          <a:xfrm>
            <a:off x="5029200" y="2331720"/>
            <a:ext cx="3474720" cy="1920240"/>
          </a:xfrm>
          <a:prstGeom prst="rect">
            <a:avLst/>
          </a:prstGeom>
          <a:noFill/>
          <a:ln/>
        </p:spPr>
        <p:txBody>
          <a:bodyPr wrap="square" rtlCol="0" anchor="ctr"/>
          <a:lstStyle/>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Power Query, formulas, PivotTables, VBA</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Auditable and repeatable</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Boring, in the best way</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Same answer every refresh</a:t>
            </a:r>
            <a:endParaRPr lang="en-US" sz="1300" dirty="0"/>
          </a:p>
        </p:txBody>
      </p:sp>
      <p:sp>
        <p:nvSpPr>
          <p:cNvPr id="11" name="Text 9"/>
          <p:cNvSpPr/>
          <p:nvPr/>
        </p:nvSpPr>
        <p:spPr>
          <a:xfrm>
            <a:off x="457200" y="4480560"/>
            <a:ext cx="8229600" cy="365760"/>
          </a:xfrm>
          <a:prstGeom prst="rect">
            <a:avLst/>
          </a:prstGeom>
          <a:noFill/>
          <a:ln/>
        </p:spPr>
        <p:txBody>
          <a:bodyPr wrap="square" lIns="0" tIns="0" rIns="0" bIns="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Use the probabilistic tool to plan. Use the deterministic tool to ship.</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F2120"/>
                </a:solidFill>
                <a:latin typeface="Arial Black" pitchFamily="34" charset="0"/>
                <a:ea typeface="Arial Black" pitchFamily="34" charset="-122"/>
                <a:cs typeface="Arial Black" pitchFamily="34" charset="-120"/>
              </a:rPr>
              <a:t>A simple prompt recipe</a:t>
            </a:r>
            <a:endParaRPr lang="en-US" sz="3000" dirty="0"/>
          </a:p>
        </p:txBody>
      </p:sp>
      <p:sp>
        <p:nvSpPr>
          <p:cNvPr id="3" name="Text 1"/>
          <p:cNvSpPr/>
          <p:nvPr/>
        </p:nvSpPr>
        <p:spPr>
          <a:xfrm>
            <a:off x="457200" y="960120"/>
            <a:ext cx="8229600" cy="365760"/>
          </a:xfrm>
          <a:prstGeom prst="rect">
            <a:avLst/>
          </a:prstGeom>
          <a:noFill/>
          <a:ln/>
        </p:spPr>
        <p:txBody>
          <a:bodyPr wrap="square" lIns="0" tIns="0" rIns="0" bIns="0" rtlCol="0" anchor="ctr"/>
          <a:lstStyle/>
          <a:p>
            <a:pPr indent="0" marL="0">
              <a:buNone/>
            </a:pPr>
            <a:r>
              <a:rPr lang="en-US" sz="1300" i="1" dirty="0">
                <a:solidFill>
                  <a:srgbClr val="707070"/>
                </a:solidFill>
                <a:latin typeface="Arial" pitchFamily="34" charset="0"/>
                <a:ea typeface="Arial" pitchFamily="34" charset="-122"/>
                <a:cs typeface="Arial" pitchFamily="34" charset="-120"/>
              </a:rPr>
              <a:t>Adapted from Microsoft's “Art and science of prompting.” Four ingredients, every time.</a:t>
            </a:r>
            <a:endParaRPr lang="en-US" sz="1300" dirty="0"/>
          </a:p>
        </p:txBody>
      </p:sp>
      <p:sp>
        <p:nvSpPr>
          <p:cNvPr id="4" name="Shape 2"/>
          <p:cNvSpPr/>
          <p:nvPr/>
        </p:nvSpPr>
        <p:spPr>
          <a:xfrm>
            <a:off x="457200" y="1508760"/>
            <a:ext cx="4023360" cy="1417320"/>
          </a:xfrm>
          <a:prstGeom prst="rect">
            <a:avLst/>
          </a:prstGeom>
          <a:solidFill>
            <a:srgbClr val="FFFFFF"/>
          </a:solidFill>
          <a:ln w="12700">
            <a:solidFill>
              <a:srgbClr val="DDDDDD"/>
            </a:solidFill>
            <a:prstDash val="solid"/>
          </a:ln>
        </p:spPr>
      </p:sp>
      <p:sp>
        <p:nvSpPr>
          <p:cNvPr id="5" name="Shape 3"/>
          <p:cNvSpPr/>
          <p:nvPr/>
        </p:nvSpPr>
        <p:spPr>
          <a:xfrm>
            <a:off x="457200" y="1508760"/>
            <a:ext cx="822960" cy="1417320"/>
          </a:xfrm>
          <a:prstGeom prst="rect">
            <a:avLst/>
          </a:prstGeom>
          <a:solidFill>
            <a:srgbClr val="CF3338"/>
          </a:solidFill>
          <a:ln w="12700">
            <a:solidFill>
              <a:srgbClr val="CF3338"/>
            </a:solidFill>
            <a:prstDash val="solid"/>
          </a:ln>
        </p:spPr>
      </p:sp>
      <p:sp>
        <p:nvSpPr>
          <p:cNvPr id="6" name="Text 4"/>
          <p:cNvSpPr/>
          <p:nvPr/>
        </p:nvSpPr>
        <p:spPr>
          <a:xfrm>
            <a:off x="457200" y="1508760"/>
            <a:ext cx="822960" cy="1417320"/>
          </a:xfrm>
          <a:prstGeom prst="rect">
            <a:avLst/>
          </a:prstGeom>
          <a:noFill/>
          <a:ln/>
        </p:spPr>
        <p:txBody>
          <a:bodyPr wrap="square" lIns="0" tIns="0" rIns="0" bIns="0" rtlCol="0" anchor="ctr"/>
          <a:lstStyle/>
          <a:p>
            <a:pPr algn="ctr" indent="0" marL="0">
              <a:buNone/>
            </a:pPr>
            <a:r>
              <a:rPr lang="en-US" sz="5000" b="1" dirty="0">
                <a:solidFill>
                  <a:srgbClr val="FFFFFF"/>
                </a:solidFill>
                <a:latin typeface="Arial Black" pitchFamily="34" charset="0"/>
                <a:ea typeface="Arial Black" pitchFamily="34" charset="-122"/>
                <a:cs typeface="Arial Black" pitchFamily="34" charset="-120"/>
              </a:rPr>
              <a:t>G</a:t>
            </a:r>
            <a:endParaRPr lang="en-US" sz="5000" dirty="0"/>
          </a:p>
        </p:txBody>
      </p:sp>
      <p:sp>
        <p:nvSpPr>
          <p:cNvPr id="7" name="Text 5"/>
          <p:cNvSpPr/>
          <p:nvPr/>
        </p:nvSpPr>
        <p:spPr>
          <a:xfrm>
            <a:off x="1417320" y="1691640"/>
            <a:ext cx="2926080" cy="457200"/>
          </a:xfrm>
          <a:prstGeom prst="rect">
            <a:avLst/>
          </a:prstGeom>
          <a:noFill/>
          <a:ln/>
        </p:spPr>
        <p:txBody>
          <a:bodyPr wrap="square" lIns="0" tIns="0" rIns="0" bIns="0" rtlCol="0" anchor="ctr"/>
          <a:lstStyle/>
          <a:p>
            <a:pPr indent="0" marL="0">
              <a:buNone/>
            </a:pPr>
            <a:r>
              <a:rPr lang="en-US" sz="1800" b="1" dirty="0">
                <a:solidFill>
                  <a:srgbClr val="1F2120"/>
                </a:solidFill>
                <a:latin typeface="Arial Black" pitchFamily="34" charset="0"/>
                <a:ea typeface="Arial Black" pitchFamily="34" charset="-122"/>
                <a:cs typeface="Arial Black" pitchFamily="34" charset="-120"/>
              </a:rPr>
              <a:t>Goal</a:t>
            </a:r>
            <a:endParaRPr lang="en-US" sz="1800" dirty="0"/>
          </a:p>
        </p:txBody>
      </p:sp>
      <p:sp>
        <p:nvSpPr>
          <p:cNvPr id="8" name="Text 6"/>
          <p:cNvSpPr/>
          <p:nvPr/>
        </p:nvSpPr>
        <p:spPr>
          <a:xfrm>
            <a:off x="1417320" y="2148840"/>
            <a:ext cx="2926080" cy="731520"/>
          </a:xfrm>
          <a:prstGeom prst="rect">
            <a:avLst/>
          </a:prstGeom>
          <a:noFill/>
          <a:ln/>
        </p:spPr>
        <p:txBody>
          <a:bodyPr wrap="square" lIns="0" tIns="0" rIns="0" bIns="0" rtlCol="0" anchor="ctr"/>
          <a:lstStyle/>
          <a:p>
            <a:pPr indent="0" marL="0">
              <a:buNone/>
            </a:pPr>
            <a:r>
              <a:rPr lang="en-US" sz="1200" dirty="0">
                <a:solidFill>
                  <a:srgbClr val="707070"/>
                </a:solidFill>
                <a:latin typeface="Arial" pitchFamily="34" charset="0"/>
                <a:ea typeface="Arial" pitchFamily="34" charset="-122"/>
                <a:cs typeface="Arial" pitchFamily="34" charset="-120"/>
              </a:rPr>
              <a:t>What response do you want?</a:t>
            </a:r>
            <a:endParaRPr lang="en-US" sz="1200" dirty="0"/>
          </a:p>
        </p:txBody>
      </p:sp>
      <p:sp>
        <p:nvSpPr>
          <p:cNvPr id="9" name="Shape 7"/>
          <p:cNvSpPr/>
          <p:nvPr/>
        </p:nvSpPr>
        <p:spPr>
          <a:xfrm>
            <a:off x="4663440" y="1508760"/>
            <a:ext cx="4023360" cy="1417320"/>
          </a:xfrm>
          <a:prstGeom prst="rect">
            <a:avLst/>
          </a:prstGeom>
          <a:solidFill>
            <a:srgbClr val="FFFFFF"/>
          </a:solidFill>
          <a:ln w="12700">
            <a:solidFill>
              <a:srgbClr val="DDDDDD"/>
            </a:solidFill>
            <a:prstDash val="solid"/>
          </a:ln>
        </p:spPr>
      </p:sp>
      <p:sp>
        <p:nvSpPr>
          <p:cNvPr id="10" name="Shape 8"/>
          <p:cNvSpPr/>
          <p:nvPr/>
        </p:nvSpPr>
        <p:spPr>
          <a:xfrm>
            <a:off x="4663440" y="1508760"/>
            <a:ext cx="822960" cy="1417320"/>
          </a:xfrm>
          <a:prstGeom prst="rect">
            <a:avLst/>
          </a:prstGeom>
          <a:solidFill>
            <a:srgbClr val="CF3338"/>
          </a:solidFill>
          <a:ln w="12700">
            <a:solidFill>
              <a:srgbClr val="CF3338"/>
            </a:solidFill>
            <a:prstDash val="solid"/>
          </a:ln>
        </p:spPr>
      </p:sp>
      <p:sp>
        <p:nvSpPr>
          <p:cNvPr id="11" name="Text 9"/>
          <p:cNvSpPr/>
          <p:nvPr/>
        </p:nvSpPr>
        <p:spPr>
          <a:xfrm>
            <a:off x="4663440" y="1508760"/>
            <a:ext cx="822960" cy="1417320"/>
          </a:xfrm>
          <a:prstGeom prst="rect">
            <a:avLst/>
          </a:prstGeom>
          <a:noFill/>
          <a:ln/>
        </p:spPr>
        <p:txBody>
          <a:bodyPr wrap="square" lIns="0" tIns="0" rIns="0" bIns="0" rtlCol="0" anchor="ctr"/>
          <a:lstStyle/>
          <a:p>
            <a:pPr algn="ctr" indent="0" marL="0">
              <a:buNone/>
            </a:pPr>
            <a:r>
              <a:rPr lang="en-US" sz="5000" b="1" dirty="0">
                <a:solidFill>
                  <a:srgbClr val="FFFFFF"/>
                </a:solidFill>
                <a:latin typeface="Arial Black" pitchFamily="34" charset="0"/>
                <a:ea typeface="Arial Black" pitchFamily="34" charset="-122"/>
                <a:cs typeface="Arial Black" pitchFamily="34" charset="-120"/>
              </a:rPr>
              <a:t>C</a:t>
            </a:r>
            <a:endParaRPr lang="en-US" sz="5000" dirty="0"/>
          </a:p>
        </p:txBody>
      </p:sp>
      <p:sp>
        <p:nvSpPr>
          <p:cNvPr id="12" name="Text 10"/>
          <p:cNvSpPr/>
          <p:nvPr/>
        </p:nvSpPr>
        <p:spPr>
          <a:xfrm>
            <a:off x="5623560" y="1691640"/>
            <a:ext cx="2926080" cy="457200"/>
          </a:xfrm>
          <a:prstGeom prst="rect">
            <a:avLst/>
          </a:prstGeom>
          <a:noFill/>
          <a:ln/>
        </p:spPr>
        <p:txBody>
          <a:bodyPr wrap="square" lIns="0" tIns="0" rIns="0" bIns="0" rtlCol="0" anchor="ctr"/>
          <a:lstStyle/>
          <a:p>
            <a:pPr indent="0" marL="0">
              <a:buNone/>
            </a:pPr>
            <a:r>
              <a:rPr lang="en-US" sz="1800" b="1" dirty="0">
                <a:solidFill>
                  <a:srgbClr val="1F2120"/>
                </a:solidFill>
                <a:latin typeface="Arial Black" pitchFamily="34" charset="0"/>
                <a:ea typeface="Arial Black" pitchFamily="34" charset="-122"/>
                <a:cs typeface="Arial Black" pitchFamily="34" charset="-120"/>
              </a:rPr>
              <a:t>Context</a:t>
            </a:r>
            <a:endParaRPr lang="en-US" sz="1800" dirty="0"/>
          </a:p>
        </p:txBody>
      </p:sp>
      <p:sp>
        <p:nvSpPr>
          <p:cNvPr id="13" name="Text 11"/>
          <p:cNvSpPr/>
          <p:nvPr/>
        </p:nvSpPr>
        <p:spPr>
          <a:xfrm>
            <a:off x="5623560" y="2148840"/>
            <a:ext cx="2926080" cy="731520"/>
          </a:xfrm>
          <a:prstGeom prst="rect">
            <a:avLst/>
          </a:prstGeom>
          <a:noFill/>
          <a:ln/>
        </p:spPr>
        <p:txBody>
          <a:bodyPr wrap="square" lIns="0" tIns="0" rIns="0" bIns="0" rtlCol="0" anchor="ctr"/>
          <a:lstStyle/>
          <a:p>
            <a:pPr indent="0" marL="0">
              <a:buNone/>
            </a:pPr>
            <a:r>
              <a:rPr lang="en-US" sz="1200" dirty="0">
                <a:solidFill>
                  <a:srgbClr val="707070"/>
                </a:solidFill>
                <a:latin typeface="Arial" pitchFamily="34" charset="0"/>
                <a:ea typeface="Arial" pitchFamily="34" charset="-122"/>
                <a:cs typeface="Arial" pitchFamily="34" charset="-120"/>
              </a:rPr>
              <a:t>Why do you need it, and who is involved?</a:t>
            </a:r>
            <a:endParaRPr lang="en-US" sz="1200" dirty="0"/>
          </a:p>
        </p:txBody>
      </p:sp>
      <p:sp>
        <p:nvSpPr>
          <p:cNvPr id="14" name="Shape 12"/>
          <p:cNvSpPr/>
          <p:nvPr/>
        </p:nvSpPr>
        <p:spPr>
          <a:xfrm>
            <a:off x="457200" y="3108960"/>
            <a:ext cx="4023360" cy="1417320"/>
          </a:xfrm>
          <a:prstGeom prst="rect">
            <a:avLst/>
          </a:prstGeom>
          <a:solidFill>
            <a:srgbClr val="FFFFFF"/>
          </a:solidFill>
          <a:ln w="12700">
            <a:solidFill>
              <a:srgbClr val="DDDDDD"/>
            </a:solidFill>
            <a:prstDash val="solid"/>
          </a:ln>
        </p:spPr>
      </p:sp>
      <p:sp>
        <p:nvSpPr>
          <p:cNvPr id="15" name="Shape 13"/>
          <p:cNvSpPr/>
          <p:nvPr/>
        </p:nvSpPr>
        <p:spPr>
          <a:xfrm>
            <a:off x="457200" y="3108960"/>
            <a:ext cx="822960" cy="1417320"/>
          </a:xfrm>
          <a:prstGeom prst="rect">
            <a:avLst/>
          </a:prstGeom>
          <a:solidFill>
            <a:srgbClr val="CF3338"/>
          </a:solidFill>
          <a:ln w="12700">
            <a:solidFill>
              <a:srgbClr val="CF3338"/>
            </a:solidFill>
            <a:prstDash val="solid"/>
          </a:ln>
        </p:spPr>
      </p:sp>
      <p:sp>
        <p:nvSpPr>
          <p:cNvPr id="16" name="Text 14"/>
          <p:cNvSpPr/>
          <p:nvPr/>
        </p:nvSpPr>
        <p:spPr>
          <a:xfrm>
            <a:off x="457200" y="3108960"/>
            <a:ext cx="822960" cy="1417320"/>
          </a:xfrm>
          <a:prstGeom prst="rect">
            <a:avLst/>
          </a:prstGeom>
          <a:noFill/>
          <a:ln/>
        </p:spPr>
        <p:txBody>
          <a:bodyPr wrap="square" lIns="0" tIns="0" rIns="0" bIns="0" rtlCol="0" anchor="ctr"/>
          <a:lstStyle/>
          <a:p>
            <a:pPr algn="ctr" indent="0" marL="0">
              <a:buNone/>
            </a:pPr>
            <a:r>
              <a:rPr lang="en-US" sz="5000" b="1" dirty="0">
                <a:solidFill>
                  <a:srgbClr val="FFFFFF"/>
                </a:solidFill>
                <a:latin typeface="Arial Black" pitchFamily="34" charset="0"/>
                <a:ea typeface="Arial Black" pitchFamily="34" charset="-122"/>
                <a:cs typeface="Arial Black" pitchFamily="34" charset="-120"/>
              </a:rPr>
              <a:t>S</a:t>
            </a:r>
            <a:endParaRPr lang="en-US" sz="5000" dirty="0"/>
          </a:p>
        </p:txBody>
      </p:sp>
      <p:sp>
        <p:nvSpPr>
          <p:cNvPr id="17" name="Text 15"/>
          <p:cNvSpPr/>
          <p:nvPr/>
        </p:nvSpPr>
        <p:spPr>
          <a:xfrm>
            <a:off x="1417320" y="3291840"/>
            <a:ext cx="2926080" cy="457200"/>
          </a:xfrm>
          <a:prstGeom prst="rect">
            <a:avLst/>
          </a:prstGeom>
          <a:noFill/>
          <a:ln/>
        </p:spPr>
        <p:txBody>
          <a:bodyPr wrap="square" lIns="0" tIns="0" rIns="0" bIns="0" rtlCol="0" anchor="ctr"/>
          <a:lstStyle/>
          <a:p>
            <a:pPr indent="0" marL="0">
              <a:buNone/>
            </a:pPr>
            <a:r>
              <a:rPr lang="en-US" sz="1800" b="1" dirty="0">
                <a:solidFill>
                  <a:srgbClr val="1F2120"/>
                </a:solidFill>
                <a:latin typeface="Arial Black" pitchFamily="34" charset="0"/>
                <a:ea typeface="Arial Black" pitchFamily="34" charset="-122"/>
                <a:cs typeface="Arial Black" pitchFamily="34" charset="-120"/>
              </a:rPr>
              <a:t>Source</a:t>
            </a:r>
            <a:endParaRPr lang="en-US" sz="1800" dirty="0"/>
          </a:p>
        </p:txBody>
      </p:sp>
      <p:sp>
        <p:nvSpPr>
          <p:cNvPr id="18" name="Text 16"/>
          <p:cNvSpPr/>
          <p:nvPr/>
        </p:nvSpPr>
        <p:spPr>
          <a:xfrm>
            <a:off x="1417320" y="3749040"/>
            <a:ext cx="2926080" cy="731520"/>
          </a:xfrm>
          <a:prstGeom prst="rect">
            <a:avLst/>
          </a:prstGeom>
          <a:noFill/>
          <a:ln/>
        </p:spPr>
        <p:txBody>
          <a:bodyPr wrap="square" lIns="0" tIns="0" rIns="0" bIns="0" rtlCol="0" anchor="ctr"/>
          <a:lstStyle/>
          <a:p>
            <a:pPr indent="0" marL="0">
              <a:buNone/>
            </a:pPr>
            <a:r>
              <a:rPr lang="en-US" sz="1200" dirty="0">
                <a:solidFill>
                  <a:srgbClr val="707070"/>
                </a:solidFill>
                <a:latin typeface="Arial" pitchFamily="34" charset="0"/>
                <a:ea typeface="Arial" pitchFamily="34" charset="-122"/>
                <a:cs typeface="Arial" pitchFamily="34" charset="-120"/>
              </a:rPr>
              <a:t>Which file, range, or sheet should it look at?</a:t>
            </a:r>
            <a:endParaRPr lang="en-US" sz="1200" dirty="0"/>
          </a:p>
        </p:txBody>
      </p:sp>
      <p:sp>
        <p:nvSpPr>
          <p:cNvPr id="19" name="Shape 17"/>
          <p:cNvSpPr/>
          <p:nvPr/>
        </p:nvSpPr>
        <p:spPr>
          <a:xfrm>
            <a:off x="4663440" y="3108960"/>
            <a:ext cx="4023360" cy="1417320"/>
          </a:xfrm>
          <a:prstGeom prst="rect">
            <a:avLst/>
          </a:prstGeom>
          <a:solidFill>
            <a:srgbClr val="FFFFFF"/>
          </a:solidFill>
          <a:ln w="12700">
            <a:solidFill>
              <a:srgbClr val="DDDDDD"/>
            </a:solidFill>
            <a:prstDash val="solid"/>
          </a:ln>
        </p:spPr>
      </p:sp>
      <p:sp>
        <p:nvSpPr>
          <p:cNvPr id="20" name="Shape 18"/>
          <p:cNvSpPr/>
          <p:nvPr/>
        </p:nvSpPr>
        <p:spPr>
          <a:xfrm>
            <a:off x="4663440" y="3108960"/>
            <a:ext cx="822960" cy="1417320"/>
          </a:xfrm>
          <a:prstGeom prst="rect">
            <a:avLst/>
          </a:prstGeom>
          <a:solidFill>
            <a:srgbClr val="CF3338"/>
          </a:solidFill>
          <a:ln w="12700">
            <a:solidFill>
              <a:srgbClr val="CF3338"/>
            </a:solidFill>
            <a:prstDash val="solid"/>
          </a:ln>
        </p:spPr>
      </p:sp>
      <p:sp>
        <p:nvSpPr>
          <p:cNvPr id="21" name="Text 19"/>
          <p:cNvSpPr/>
          <p:nvPr/>
        </p:nvSpPr>
        <p:spPr>
          <a:xfrm>
            <a:off x="4663440" y="3108960"/>
            <a:ext cx="822960" cy="1417320"/>
          </a:xfrm>
          <a:prstGeom prst="rect">
            <a:avLst/>
          </a:prstGeom>
          <a:noFill/>
          <a:ln/>
        </p:spPr>
        <p:txBody>
          <a:bodyPr wrap="square" lIns="0" tIns="0" rIns="0" bIns="0" rtlCol="0" anchor="ctr"/>
          <a:lstStyle/>
          <a:p>
            <a:pPr algn="ctr" indent="0" marL="0">
              <a:buNone/>
            </a:pPr>
            <a:r>
              <a:rPr lang="en-US" sz="5000" b="1" dirty="0">
                <a:solidFill>
                  <a:srgbClr val="FFFFFF"/>
                </a:solidFill>
                <a:latin typeface="Arial Black" pitchFamily="34" charset="0"/>
                <a:ea typeface="Arial Black" pitchFamily="34" charset="-122"/>
                <a:cs typeface="Arial Black" pitchFamily="34" charset="-120"/>
              </a:rPr>
              <a:t>E</a:t>
            </a:r>
            <a:endParaRPr lang="en-US" sz="5000" dirty="0"/>
          </a:p>
        </p:txBody>
      </p:sp>
      <p:sp>
        <p:nvSpPr>
          <p:cNvPr id="22" name="Text 20"/>
          <p:cNvSpPr/>
          <p:nvPr/>
        </p:nvSpPr>
        <p:spPr>
          <a:xfrm>
            <a:off x="5623560" y="3291840"/>
            <a:ext cx="2926080" cy="457200"/>
          </a:xfrm>
          <a:prstGeom prst="rect">
            <a:avLst/>
          </a:prstGeom>
          <a:noFill/>
          <a:ln/>
        </p:spPr>
        <p:txBody>
          <a:bodyPr wrap="square" lIns="0" tIns="0" rIns="0" bIns="0" rtlCol="0" anchor="ctr"/>
          <a:lstStyle/>
          <a:p>
            <a:pPr indent="0" marL="0">
              <a:buNone/>
            </a:pPr>
            <a:r>
              <a:rPr lang="en-US" sz="1800" b="1" dirty="0">
                <a:solidFill>
                  <a:srgbClr val="1F2120"/>
                </a:solidFill>
                <a:latin typeface="Arial Black" pitchFamily="34" charset="0"/>
                <a:ea typeface="Arial Black" pitchFamily="34" charset="-122"/>
                <a:cs typeface="Arial Black" pitchFamily="34" charset="-120"/>
              </a:rPr>
              <a:t>Expectations</a:t>
            </a:r>
            <a:endParaRPr lang="en-US" sz="1800" dirty="0"/>
          </a:p>
        </p:txBody>
      </p:sp>
      <p:sp>
        <p:nvSpPr>
          <p:cNvPr id="23" name="Text 21"/>
          <p:cNvSpPr/>
          <p:nvPr/>
        </p:nvSpPr>
        <p:spPr>
          <a:xfrm>
            <a:off x="5623560" y="3749040"/>
            <a:ext cx="2926080" cy="731520"/>
          </a:xfrm>
          <a:prstGeom prst="rect">
            <a:avLst/>
          </a:prstGeom>
          <a:noFill/>
          <a:ln/>
        </p:spPr>
        <p:txBody>
          <a:bodyPr wrap="square" lIns="0" tIns="0" rIns="0" bIns="0" rtlCol="0" anchor="ctr"/>
          <a:lstStyle/>
          <a:p>
            <a:pPr indent="0" marL="0">
              <a:buNone/>
            </a:pPr>
            <a:r>
              <a:rPr lang="en-US" sz="1200" dirty="0">
                <a:solidFill>
                  <a:srgbClr val="707070"/>
                </a:solidFill>
                <a:latin typeface="Arial" pitchFamily="34" charset="0"/>
                <a:ea typeface="Arial" pitchFamily="34" charset="-122"/>
                <a:cs typeface="Arial" pitchFamily="34" charset="-120"/>
              </a:rPr>
              <a:t>Format, length, tone, and what to avoid.</a:t>
            </a:r>
            <a:endParaRPr lang="en-US" sz="1200" dirty="0"/>
          </a:p>
        </p:txBody>
      </p:sp>
      <p:sp>
        <p:nvSpPr>
          <p:cNvPr id="24" name="Text 22"/>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12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200" b="1" dirty="0">
                <a:solidFill>
                  <a:srgbClr val="1F2120"/>
                </a:solidFill>
                <a:latin typeface="Arial Black" pitchFamily="34" charset="0"/>
                <a:ea typeface="Arial Black" pitchFamily="34" charset="-122"/>
                <a:cs typeface="Arial Black" pitchFamily="34" charset="-120"/>
              </a:rPr>
              <a:t>Good → Great</a:t>
            </a:r>
            <a:endParaRPr lang="en-US" sz="3200" dirty="0"/>
          </a:p>
        </p:txBody>
      </p:sp>
      <p:sp>
        <p:nvSpPr>
          <p:cNvPr id="3" name="Text 1"/>
          <p:cNvSpPr/>
          <p:nvPr/>
        </p:nvSpPr>
        <p:spPr>
          <a:xfrm>
            <a:off x="457200" y="960120"/>
            <a:ext cx="8229600" cy="365760"/>
          </a:xfrm>
          <a:prstGeom prst="rect">
            <a:avLst/>
          </a:prstGeom>
          <a:noFill/>
          <a:ln/>
        </p:spPr>
        <p:txBody>
          <a:bodyPr wrap="square" lIns="0" tIns="0" rIns="0" bIns="0" rtlCol="0" anchor="ctr"/>
          <a:lstStyle/>
          <a:p>
            <a:pPr indent="0" marL="0">
              <a:buNone/>
            </a:pPr>
            <a:r>
              <a:rPr lang="en-US" sz="1300" i="1" dirty="0">
                <a:solidFill>
                  <a:srgbClr val="707070"/>
                </a:solidFill>
                <a:latin typeface="Arial" pitchFamily="34" charset="0"/>
                <a:ea typeface="Arial" pitchFamily="34" charset="-122"/>
                <a:cs typeface="Arial" pitchFamily="34" charset="-120"/>
              </a:rPr>
              <a:t>The recipe, fully applied: all four ingredients in one clean sentence.</a:t>
            </a:r>
            <a:endParaRPr lang="en-US" sz="1300" dirty="0"/>
          </a:p>
        </p:txBody>
      </p:sp>
      <p:sp>
        <p:nvSpPr>
          <p:cNvPr id="4" name="Shape 2"/>
          <p:cNvSpPr/>
          <p:nvPr/>
        </p:nvSpPr>
        <p:spPr>
          <a:xfrm>
            <a:off x="457200" y="1417320"/>
            <a:ext cx="8229600" cy="1417320"/>
          </a:xfrm>
          <a:prstGeom prst="rect">
            <a:avLst/>
          </a:prstGeom>
          <a:solidFill>
            <a:srgbClr val="FFFFFF"/>
          </a:solidFill>
          <a:ln w="15240">
            <a:solidFill>
              <a:srgbClr val="707070"/>
            </a:solidFill>
            <a:prstDash val="solid"/>
          </a:ln>
        </p:spPr>
      </p:sp>
      <p:sp>
        <p:nvSpPr>
          <p:cNvPr id="5" name="Shape 3"/>
          <p:cNvSpPr/>
          <p:nvPr/>
        </p:nvSpPr>
        <p:spPr>
          <a:xfrm>
            <a:off x="457200" y="1417320"/>
            <a:ext cx="1097280" cy="1417320"/>
          </a:xfrm>
          <a:prstGeom prst="rect">
            <a:avLst/>
          </a:prstGeom>
          <a:solidFill>
            <a:srgbClr val="707070"/>
          </a:solidFill>
          <a:ln w="12700">
            <a:solidFill>
              <a:srgbClr val="707070"/>
            </a:solidFill>
            <a:prstDash val="solid"/>
          </a:ln>
        </p:spPr>
      </p:sp>
      <p:sp>
        <p:nvSpPr>
          <p:cNvPr id="6" name="Text 4"/>
          <p:cNvSpPr/>
          <p:nvPr/>
        </p:nvSpPr>
        <p:spPr>
          <a:xfrm>
            <a:off x="457200" y="1417320"/>
            <a:ext cx="1097280" cy="141732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Arial Black" pitchFamily="34" charset="0"/>
                <a:ea typeface="Arial Black" pitchFamily="34" charset="-122"/>
                <a:cs typeface="Arial Black" pitchFamily="34" charset="-120"/>
              </a:rPr>
              <a:t>GOOD</a:t>
            </a:r>
            <a:endParaRPr lang="en-US" sz="1600" dirty="0"/>
          </a:p>
        </p:txBody>
      </p:sp>
      <p:sp>
        <p:nvSpPr>
          <p:cNvPr id="7" name="Text 5"/>
          <p:cNvSpPr/>
          <p:nvPr/>
        </p:nvSpPr>
        <p:spPr>
          <a:xfrm>
            <a:off x="1737360" y="1508760"/>
            <a:ext cx="6766560" cy="548640"/>
          </a:xfrm>
          <a:prstGeom prst="rect">
            <a:avLst/>
          </a:prstGeom>
          <a:noFill/>
          <a:ln/>
        </p:spPr>
        <p:txBody>
          <a:bodyPr wrap="square" lIns="0" tIns="0" rIns="0" bIns="0" rtlCol="0" anchor="ctr"/>
          <a:lstStyle/>
          <a:p>
            <a:pPr indent="0" marL="0">
              <a:buNone/>
            </a:pPr>
            <a:r>
              <a:rPr lang="en-US" sz="1600" i="1" dirty="0">
                <a:solidFill>
                  <a:srgbClr val="1F2120"/>
                </a:solidFill>
                <a:latin typeface="Arial" pitchFamily="34" charset="0"/>
                <a:ea typeface="Arial" pitchFamily="34" charset="-122"/>
                <a:cs typeface="Arial" pitchFamily="34" charset="-120"/>
              </a:rPr>
              <a:t>“Find total sales by channel.”</a:t>
            </a:r>
            <a:endParaRPr lang="en-US" sz="1600" dirty="0"/>
          </a:p>
        </p:txBody>
      </p:sp>
      <p:sp>
        <p:nvSpPr>
          <p:cNvPr id="8" name="Text 6"/>
          <p:cNvSpPr/>
          <p:nvPr/>
        </p:nvSpPr>
        <p:spPr>
          <a:xfrm>
            <a:off x="1737360" y="2057400"/>
            <a:ext cx="6766560" cy="777240"/>
          </a:xfrm>
          <a:prstGeom prst="rect">
            <a:avLst/>
          </a:prstGeom>
          <a:noFill/>
          <a:ln/>
        </p:spPr>
        <p:txBody>
          <a:bodyPr wrap="square" lIns="0" tIns="0" rIns="0" bIns="0" rtlCol="0" anchor="ctr"/>
          <a:lstStyle/>
          <a:p>
            <a:pPr indent="0" marL="0">
              <a:buNone/>
            </a:pPr>
            <a:r>
              <a:rPr lang="en-US" sz="1200" dirty="0">
                <a:solidFill>
                  <a:srgbClr val="707070"/>
                </a:solidFill>
                <a:latin typeface="Arial" pitchFamily="34" charset="0"/>
                <a:ea typeface="Arial" pitchFamily="34" charset="-122"/>
                <a:cs typeface="Arial" pitchFamily="34" charset="-120"/>
              </a:rPr>
              <a:t>Vague. “Sales” doesn't exist. “Channel” is a code. No format. No file context.</a:t>
            </a:r>
            <a:endParaRPr lang="en-US" sz="1200" dirty="0"/>
          </a:p>
        </p:txBody>
      </p:sp>
      <p:sp>
        <p:nvSpPr>
          <p:cNvPr id="9" name="Shape 7"/>
          <p:cNvSpPr/>
          <p:nvPr/>
        </p:nvSpPr>
        <p:spPr>
          <a:xfrm>
            <a:off x="457200" y="2971800"/>
            <a:ext cx="8229600" cy="1691640"/>
          </a:xfrm>
          <a:prstGeom prst="rect">
            <a:avLst/>
          </a:prstGeom>
          <a:solidFill>
            <a:srgbClr val="FFFFFF"/>
          </a:solidFill>
          <a:ln w="19050">
            <a:solidFill>
              <a:srgbClr val="CF3338"/>
            </a:solidFill>
            <a:prstDash val="solid"/>
          </a:ln>
        </p:spPr>
      </p:sp>
      <p:sp>
        <p:nvSpPr>
          <p:cNvPr id="10" name="Shape 8"/>
          <p:cNvSpPr/>
          <p:nvPr/>
        </p:nvSpPr>
        <p:spPr>
          <a:xfrm>
            <a:off x="457200" y="2971800"/>
            <a:ext cx="1097280" cy="1691640"/>
          </a:xfrm>
          <a:prstGeom prst="rect">
            <a:avLst/>
          </a:prstGeom>
          <a:solidFill>
            <a:srgbClr val="CF3338"/>
          </a:solidFill>
          <a:ln w="12700">
            <a:solidFill>
              <a:srgbClr val="CF3338"/>
            </a:solidFill>
            <a:prstDash val="solid"/>
          </a:ln>
        </p:spPr>
      </p:sp>
      <p:sp>
        <p:nvSpPr>
          <p:cNvPr id="11" name="Text 9"/>
          <p:cNvSpPr/>
          <p:nvPr/>
        </p:nvSpPr>
        <p:spPr>
          <a:xfrm>
            <a:off x="457200" y="2971800"/>
            <a:ext cx="1097280" cy="1691640"/>
          </a:xfrm>
          <a:prstGeom prst="rect">
            <a:avLst/>
          </a:prstGeom>
          <a:noFill/>
          <a:ln/>
        </p:spPr>
        <p:txBody>
          <a:bodyPr wrap="square" lIns="0" tIns="0" rIns="0" bIns="0" rtlCol="0" anchor="ctr"/>
          <a:lstStyle/>
          <a:p>
            <a:pPr algn="ctr" indent="0" marL="0">
              <a:buNone/>
            </a:pPr>
            <a:r>
              <a:rPr lang="en-US" sz="1600" b="1" spc="400" kern="0" dirty="0">
                <a:solidFill>
                  <a:srgbClr val="FFFFFF"/>
                </a:solidFill>
                <a:latin typeface="Arial Black" pitchFamily="34" charset="0"/>
                <a:ea typeface="Arial Black" pitchFamily="34" charset="-122"/>
                <a:cs typeface="Arial Black" pitchFamily="34" charset="-120"/>
              </a:rPr>
              <a:t>GREAT</a:t>
            </a:r>
            <a:endParaRPr lang="en-US" sz="1600" dirty="0"/>
          </a:p>
        </p:txBody>
      </p:sp>
      <p:sp>
        <p:nvSpPr>
          <p:cNvPr id="12" name="Text 10"/>
          <p:cNvSpPr/>
          <p:nvPr/>
        </p:nvSpPr>
        <p:spPr>
          <a:xfrm>
            <a:off x="1737360" y="3063240"/>
            <a:ext cx="6766560" cy="1554480"/>
          </a:xfrm>
          <a:prstGeom prst="rect">
            <a:avLst/>
          </a:prstGeom>
          <a:noFill/>
          <a:ln/>
        </p:spPr>
        <p:txBody>
          <a:bodyPr wrap="square" lIns="0" tIns="0" rIns="0" bIns="0" rtlCol="0" anchor="t"/>
          <a:lstStyle/>
          <a:p>
            <a:pPr indent="0" marL="0">
              <a:buNone/>
            </a:pPr>
            <a:r>
              <a:rPr lang="en-US" sz="1050" b="1" spc="100" dirty="0">
                <a:solidFill>
                  <a:srgbClr val="CF3338"/>
                </a:solidFill>
                <a:latin typeface="Arial" pitchFamily="34" charset="0"/>
                <a:ea typeface="Arial" pitchFamily="34" charset="-122"/>
                <a:cs typeface="Arial" pitchFamily="34" charset="-120"/>
              </a:rPr>
              <a:t xml:space="preserve">CONTEXT  </a:t>
            </a:r>
            <a:r>
              <a:rPr lang="en-US" sz="1400" i="1" dirty="0">
                <a:solidFill>
                  <a:srgbClr val="1F2120"/>
                </a:solidFill>
                <a:latin typeface="Arial" pitchFamily="34" charset="0"/>
                <a:ea typeface="Arial" pitchFamily="34" charset="-122"/>
                <a:cs typeface="Arial" pitchFamily="34" charset="-120"/>
              </a:rPr>
              <a:t xml:space="preserve">For a channel-strategy review, </a:t>
            </a:r>
            <a:r>
              <a:rPr lang="en-US" sz="1050" b="1" spc="100" dirty="0">
                <a:solidFill>
                  <a:srgbClr val="CF3338"/>
                </a:solidFill>
                <a:latin typeface="Arial" pitchFamily="34" charset="0"/>
                <a:ea typeface="Arial" pitchFamily="34" charset="-122"/>
                <a:cs typeface="Arial" pitchFamily="34" charset="-120"/>
              </a:rPr>
              <a:t xml:space="preserve">GOAL  </a:t>
            </a:r>
            <a:r>
              <a:rPr lang="en-US" sz="1400" i="1" dirty="0">
                <a:solidFill>
                  <a:srgbClr val="1F2120"/>
                </a:solidFill>
                <a:latin typeface="Arial" pitchFamily="34" charset="0"/>
                <a:ea typeface="Arial" pitchFamily="34" charset="-122"/>
                <a:cs typeface="Arial" pitchFamily="34" charset="-120"/>
              </a:rPr>
              <a:t xml:space="preserve">show total Spend by Channel </a:t>
            </a:r>
            <a:r>
              <a:rPr lang="en-US" sz="1050" b="1" spc="100" dirty="0">
                <a:solidFill>
                  <a:srgbClr val="CF3338"/>
                </a:solidFill>
                <a:latin typeface="Arial" pitchFamily="34" charset="0"/>
                <a:ea typeface="Arial" pitchFamily="34" charset="-122"/>
                <a:cs typeface="Arial" pitchFamily="34" charset="-120"/>
              </a:rPr>
              <a:t xml:space="preserve">SOURCE  </a:t>
            </a:r>
            <a:r>
              <a:rPr lang="en-US" sz="1400" i="1" dirty="0">
                <a:solidFill>
                  <a:srgbClr val="1F2120"/>
                </a:solidFill>
                <a:latin typeface="Arial" pitchFamily="34" charset="0"/>
                <a:ea typeface="Arial" pitchFamily="34" charset="-122"/>
                <a:cs typeface="Arial" pitchFamily="34" charset="-120"/>
              </a:rPr>
              <a:t xml:space="preserve">from the cleaned wholesale table </a:t>
            </a:r>
            <a:r>
              <a:rPr lang="en-US" sz="1050" b="1" spc="100" dirty="0">
                <a:solidFill>
                  <a:srgbClr val="CF3338"/>
                </a:solidFill>
                <a:latin typeface="Arial" pitchFamily="34" charset="0"/>
                <a:ea typeface="Arial" pitchFamily="34" charset="-122"/>
                <a:cs typeface="Arial" pitchFamily="34" charset="-120"/>
              </a:rPr>
              <a:t xml:space="preserve">EXPECTATIONS  </a:t>
            </a:r>
            <a:r>
              <a:rPr lang="en-US" sz="1400" i="1" dirty="0">
                <a:solidFill>
                  <a:srgbClr val="1F2120"/>
                </a:solidFill>
                <a:latin typeface="Arial" pitchFamily="34" charset="0"/>
                <a:ea typeface="Arial" pitchFamily="34" charset="-122"/>
                <a:cs typeface="Arial" pitchFamily="34" charset="-120"/>
              </a:rPr>
              <a:t xml:space="preserve">as a two-row table, whole dollars, largest first. </a:t>
            </a:r>
            <a:endParaRPr lang="en-US" sz="1400" dirty="0"/>
          </a:p>
          <a:p>
            <a:pPr indent="0" marL="0">
              <a:buNone/>
            </a:pPr>
            <a:endParaRPr lang="en-US" sz="700" dirty="0"/>
          </a:p>
          <a:p>
            <a:pPr indent="0" marL="0">
              <a:buNone/>
            </a:pPr>
            <a:r>
              <a:rPr lang="en-US" sz="1150" dirty="0">
                <a:solidFill>
                  <a:srgbClr val="707070"/>
                </a:solidFill>
                <a:latin typeface="Arial" pitchFamily="34" charset="0"/>
                <a:ea typeface="Arial" pitchFamily="34" charset="-122"/>
                <a:cs typeface="Arial" pitchFamily="34" charset="-120"/>
              </a:rPr>
              <a:t>All four ingredients, one sentence. On the next slide: which ones you can drop once you're fluent.</a:t>
            </a:r>
            <a:endParaRPr lang="en-US" sz="1150" dirty="0"/>
          </a:p>
        </p:txBody>
      </p:sp>
      <p:sp>
        <p:nvSpPr>
          <p:cNvPr id="13" name="Text 11"/>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13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F2120"/>
                </a:solidFill>
                <a:latin typeface="Arial Black" pitchFamily="34" charset="0"/>
                <a:ea typeface="Arial Black" pitchFamily="34" charset="-122"/>
                <a:cs typeface="Arial Black" pitchFamily="34" charset="-120"/>
              </a:rPr>
              <a:t>What we did NOT cover today</a:t>
            </a:r>
            <a:endParaRPr lang="en-US" sz="3000" dirty="0"/>
          </a:p>
        </p:txBody>
      </p:sp>
      <p:sp>
        <p:nvSpPr>
          <p:cNvPr id="3" name="Text 1"/>
          <p:cNvSpPr/>
          <p:nvPr/>
        </p:nvSpPr>
        <p:spPr>
          <a:xfrm>
            <a:off x="457200" y="960120"/>
            <a:ext cx="8229600" cy="365760"/>
          </a:xfrm>
          <a:prstGeom prst="rect">
            <a:avLst/>
          </a:prstGeom>
          <a:noFill/>
          <a:ln/>
        </p:spPr>
        <p:txBody>
          <a:bodyPr wrap="square" lIns="0" tIns="0" rIns="0" bIns="0" rtlCol="0" anchor="ctr"/>
          <a:lstStyle/>
          <a:p>
            <a:pPr indent="0" marL="0">
              <a:buNone/>
            </a:pPr>
            <a:r>
              <a:rPr lang="en-US" sz="1300" i="1" dirty="0">
                <a:solidFill>
                  <a:srgbClr val="707070"/>
                </a:solidFill>
                <a:latin typeface="Arial" pitchFamily="34" charset="0"/>
                <a:ea typeface="Arial" pitchFamily="34" charset="-122"/>
                <a:cs typeface="Arial" pitchFamily="34" charset="-120"/>
              </a:rPr>
              <a:t>This was the first inch. There's a lot more road.</a:t>
            </a:r>
            <a:endParaRPr lang="en-US" sz="1300" dirty="0"/>
          </a:p>
        </p:txBody>
      </p:sp>
      <p:sp>
        <p:nvSpPr>
          <p:cNvPr id="4" name="Shape 2"/>
          <p:cNvSpPr/>
          <p:nvPr/>
        </p:nvSpPr>
        <p:spPr>
          <a:xfrm>
            <a:off x="457200" y="1554480"/>
            <a:ext cx="4023360" cy="594360"/>
          </a:xfrm>
          <a:prstGeom prst="rect">
            <a:avLst/>
          </a:prstGeom>
          <a:solidFill>
            <a:srgbClr val="FFFFFF"/>
          </a:solidFill>
          <a:ln w="15240">
            <a:solidFill>
              <a:srgbClr val="CF3338"/>
            </a:solidFill>
            <a:prstDash val="solid"/>
          </a:ln>
        </p:spPr>
      </p:sp>
      <p:sp>
        <p:nvSpPr>
          <p:cNvPr id="5" name="Shape 3"/>
          <p:cNvSpPr/>
          <p:nvPr/>
        </p:nvSpPr>
        <p:spPr>
          <a:xfrm>
            <a:off x="594360" y="1691640"/>
            <a:ext cx="320040" cy="320040"/>
          </a:xfrm>
          <a:prstGeom prst="ellipse">
            <a:avLst/>
          </a:prstGeom>
          <a:solidFill>
            <a:srgbClr val="CF3338"/>
          </a:solidFill>
          <a:ln w="12700">
            <a:solidFill>
              <a:srgbClr val="CF3338"/>
            </a:solidFill>
            <a:prstDash val="solid"/>
          </a:ln>
        </p:spPr>
      </p:sp>
      <p:sp>
        <p:nvSpPr>
          <p:cNvPr id="6" name="Text 4"/>
          <p:cNvSpPr/>
          <p:nvPr/>
        </p:nvSpPr>
        <p:spPr>
          <a:xfrm>
            <a:off x="594360" y="167335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t>
            </a:r>
            <a:endParaRPr lang="en-US" sz="1400" dirty="0"/>
          </a:p>
        </p:txBody>
      </p:sp>
      <p:sp>
        <p:nvSpPr>
          <p:cNvPr id="7" name="Text 5"/>
          <p:cNvSpPr/>
          <p:nvPr/>
        </p:nvSpPr>
        <p:spPr>
          <a:xfrm>
            <a:off x="1005840" y="1554480"/>
            <a:ext cx="3383280" cy="594360"/>
          </a:xfrm>
          <a:prstGeom prst="rect">
            <a:avLst/>
          </a:prstGeom>
          <a:noFill/>
          <a:ln/>
        </p:spPr>
        <p:txBody>
          <a:bodyPr wrap="square" lIns="0" tIns="0" rIns="0" bIns="0" rtlCol="0" anchor="ctr"/>
          <a:lstStyle/>
          <a:p>
            <a:pPr indent="0" marL="0">
              <a:buNone/>
            </a:pPr>
            <a:r>
              <a:rPr lang="en-US" sz="1300" dirty="0">
                <a:solidFill>
                  <a:srgbClr val="1F2120"/>
                </a:solidFill>
                <a:latin typeface="Arial" pitchFamily="34" charset="0"/>
                <a:ea typeface="Arial" pitchFamily="34" charset="-122"/>
                <a:cs typeface="Arial" pitchFamily="34" charset="-120"/>
              </a:rPr>
              <a:t>Claude, ChatGPT, Gemini and how they differ</a:t>
            </a:r>
            <a:endParaRPr lang="en-US" sz="1300" dirty="0"/>
          </a:p>
        </p:txBody>
      </p:sp>
      <p:sp>
        <p:nvSpPr>
          <p:cNvPr id="8" name="Shape 6"/>
          <p:cNvSpPr/>
          <p:nvPr/>
        </p:nvSpPr>
        <p:spPr>
          <a:xfrm>
            <a:off x="4663440" y="1554480"/>
            <a:ext cx="4023360" cy="594360"/>
          </a:xfrm>
          <a:prstGeom prst="rect">
            <a:avLst/>
          </a:prstGeom>
          <a:solidFill>
            <a:srgbClr val="FFFFFF"/>
          </a:solidFill>
          <a:ln w="15240">
            <a:solidFill>
              <a:srgbClr val="CF3338"/>
            </a:solidFill>
            <a:prstDash val="solid"/>
          </a:ln>
        </p:spPr>
      </p:sp>
      <p:sp>
        <p:nvSpPr>
          <p:cNvPr id="9" name="Shape 7"/>
          <p:cNvSpPr/>
          <p:nvPr/>
        </p:nvSpPr>
        <p:spPr>
          <a:xfrm>
            <a:off x="4800600" y="1691640"/>
            <a:ext cx="320040" cy="320040"/>
          </a:xfrm>
          <a:prstGeom prst="ellipse">
            <a:avLst/>
          </a:prstGeom>
          <a:solidFill>
            <a:srgbClr val="CF3338"/>
          </a:solidFill>
          <a:ln w="12700">
            <a:solidFill>
              <a:srgbClr val="CF3338"/>
            </a:solidFill>
            <a:prstDash val="solid"/>
          </a:ln>
        </p:spPr>
      </p:sp>
      <p:sp>
        <p:nvSpPr>
          <p:cNvPr id="10" name="Text 8"/>
          <p:cNvSpPr/>
          <p:nvPr/>
        </p:nvSpPr>
        <p:spPr>
          <a:xfrm>
            <a:off x="4800600" y="167335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t>
            </a:r>
            <a:endParaRPr lang="en-US" sz="1400" dirty="0"/>
          </a:p>
        </p:txBody>
      </p:sp>
      <p:sp>
        <p:nvSpPr>
          <p:cNvPr id="11" name="Text 9"/>
          <p:cNvSpPr/>
          <p:nvPr/>
        </p:nvSpPr>
        <p:spPr>
          <a:xfrm>
            <a:off x="5212080" y="1554480"/>
            <a:ext cx="3383280" cy="594360"/>
          </a:xfrm>
          <a:prstGeom prst="rect">
            <a:avLst/>
          </a:prstGeom>
          <a:noFill/>
          <a:ln/>
        </p:spPr>
        <p:txBody>
          <a:bodyPr wrap="square" lIns="0" tIns="0" rIns="0" bIns="0" rtlCol="0" anchor="ctr"/>
          <a:lstStyle/>
          <a:p>
            <a:pPr indent="0" marL="0">
              <a:buNone/>
            </a:pPr>
            <a:r>
              <a:rPr lang="en-US" sz="1300" dirty="0">
                <a:solidFill>
                  <a:srgbClr val="1F2120"/>
                </a:solidFill>
                <a:latin typeface="Arial" pitchFamily="34" charset="0"/>
                <a:ea typeface="Arial" pitchFamily="34" charset="-122"/>
                <a:cs typeface="Arial" pitchFamily="34" charset="-120"/>
              </a:rPr>
              <a:t>Skills and custom instructions</a:t>
            </a:r>
            <a:endParaRPr lang="en-US" sz="1300" dirty="0"/>
          </a:p>
        </p:txBody>
      </p:sp>
      <p:sp>
        <p:nvSpPr>
          <p:cNvPr id="12" name="Shape 10"/>
          <p:cNvSpPr/>
          <p:nvPr/>
        </p:nvSpPr>
        <p:spPr>
          <a:xfrm>
            <a:off x="457200" y="2331720"/>
            <a:ext cx="4023360" cy="594360"/>
          </a:xfrm>
          <a:prstGeom prst="rect">
            <a:avLst/>
          </a:prstGeom>
          <a:solidFill>
            <a:srgbClr val="FFFFFF"/>
          </a:solidFill>
          <a:ln w="15240">
            <a:solidFill>
              <a:srgbClr val="CF3338"/>
            </a:solidFill>
            <a:prstDash val="solid"/>
          </a:ln>
        </p:spPr>
      </p:sp>
      <p:sp>
        <p:nvSpPr>
          <p:cNvPr id="13" name="Shape 11"/>
          <p:cNvSpPr/>
          <p:nvPr/>
        </p:nvSpPr>
        <p:spPr>
          <a:xfrm>
            <a:off x="594360" y="2468880"/>
            <a:ext cx="320040" cy="320040"/>
          </a:xfrm>
          <a:prstGeom prst="ellipse">
            <a:avLst/>
          </a:prstGeom>
          <a:solidFill>
            <a:srgbClr val="CF3338"/>
          </a:solidFill>
          <a:ln w="12700">
            <a:solidFill>
              <a:srgbClr val="CF3338"/>
            </a:solidFill>
            <a:prstDash val="solid"/>
          </a:ln>
        </p:spPr>
      </p:sp>
      <p:sp>
        <p:nvSpPr>
          <p:cNvPr id="14" name="Text 12"/>
          <p:cNvSpPr/>
          <p:nvPr/>
        </p:nvSpPr>
        <p:spPr>
          <a:xfrm>
            <a:off x="594360" y="245059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t>
            </a:r>
            <a:endParaRPr lang="en-US" sz="1400" dirty="0"/>
          </a:p>
        </p:txBody>
      </p:sp>
      <p:sp>
        <p:nvSpPr>
          <p:cNvPr id="15" name="Text 13"/>
          <p:cNvSpPr/>
          <p:nvPr/>
        </p:nvSpPr>
        <p:spPr>
          <a:xfrm>
            <a:off x="1005840" y="2331720"/>
            <a:ext cx="3383280" cy="594360"/>
          </a:xfrm>
          <a:prstGeom prst="rect">
            <a:avLst/>
          </a:prstGeom>
          <a:noFill/>
          <a:ln/>
        </p:spPr>
        <p:txBody>
          <a:bodyPr wrap="square" lIns="0" tIns="0" rIns="0" bIns="0" rtlCol="0" anchor="ctr"/>
          <a:lstStyle/>
          <a:p>
            <a:pPr indent="0" marL="0">
              <a:buNone/>
            </a:pPr>
            <a:r>
              <a:rPr lang="en-US" sz="1300" dirty="0">
                <a:solidFill>
                  <a:srgbClr val="1F2120"/>
                </a:solidFill>
                <a:latin typeface="Arial" pitchFamily="34" charset="0"/>
                <a:ea typeface="Arial" pitchFamily="34" charset="-122"/>
                <a:cs typeface="Arial" pitchFamily="34" charset="-120"/>
              </a:rPr>
              <a:t>Agents that take actions in your files</a:t>
            </a:r>
            <a:endParaRPr lang="en-US" sz="1300" dirty="0"/>
          </a:p>
        </p:txBody>
      </p:sp>
      <p:sp>
        <p:nvSpPr>
          <p:cNvPr id="16" name="Shape 14"/>
          <p:cNvSpPr/>
          <p:nvPr/>
        </p:nvSpPr>
        <p:spPr>
          <a:xfrm>
            <a:off x="4663440" y="2331720"/>
            <a:ext cx="4023360" cy="594360"/>
          </a:xfrm>
          <a:prstGeom prst="rect">
            <a:avLst/>
          </a:prstGeom>
          <a:solidFill>
            <a:srgbClr val="FFFFFF"/>
          </a:solidFill>
          <a:ln w="15240">
            <a:solidFill>
              <a:srgbClr val="CF3338"/>
            </a:solidFill>
            <a:prstDash val="solid"/>
          </a:ln>
        </p:spPr>
      </p:sp>
      <p:sp>
        <p:nvSpPr>
          <p:cNvPr id="17" name="Shape 15"/>
          <p:cNvSpPr/>
          <p:nvPr/>
        </p:nvSpPr>
        <p:spPr>
          <a:xfrm>
            <a:off x="4800600" y="2468880"/>
            <a:ext cx="320040" cy="320040"/>
          </a:xfrm>
          <a:prstGeom prst="ellipse">
            <a:avLst/>
          </a:prstGeom>
          <a:solidFill>
            <a:srgbClr val="CF3338"/>
          </a:solidFill>
          <a:ln w="12700">
            <a:solidFill>
              <a:srgbClr val="CF3338"/>
            </a:solidFill>
            <a:prstDash val="solid"/>
          </a:ln>
        </p:spPr>
      </p:sp>
      <p:sp>
        <p:nvSpPr>
          <p:cNvPr id="18" name="Text 16"/>
          <p:cNvSpPr/>
          <p:nvPr/>
        </p:nvSpPr>
        <p:spPr>
          <a:xfrm>
            <a:off x="4800600" y="245059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t>
            </a:r>
            <a:endParaRPr lang="en-US" sz="1400" dirty="0"/>
          </a:p>
        </p:txBody>
      </p:sp>
      <p:sp>
        <p:nvSpPr>
          <p:cNvPr id="19" name="Text 17"/>
          <p:cNvSpPr/>
          <p:nvPr/>
        </p:nvSpPr>
        <p:spPr>
          <a:xfrm>
            <a:off x="5212080" y="2331720"/>
            <a:ext cx="3383280" cy="594360"/>
          </a:xfrm>
          <a:prstGeom prst="rect">
            <a:avLst/>
          </a:prstGeom>
          <a:noFill/>
          <a:ln/>
        </p:spPr>
        <p:txBody>
          <a:bodyPr wrap="square" lIns="0" tIns="0" rIns="0" bIns="0" rtlCol="0" anchor="ctr"/>
          <a:lstStyle/>
          <a:p>
            <a:pPr indent="0" marL="0">
              <a:buNone/>
            </a:pPr>
            <a:r>
              <a:rPr lang="en-US" sz="1300" dirty="0">
                <a:solidFill>
                  <a:srgbClr val="1F2120"/>
                </a:solidFill>
                <a:latin typeface="Arial" pitchFamily="34" charset="0"/>
                <a:ea typeface="Arial" pitchFamily="34" charset="-122"/>
                <a:cs typeface="Arial" pitchFamily="34" charset="-120"/>
              </a:rPr>
              <a:t>Python in Excel + AI workflows</a:t>
            </a:r>
            <a:endParaRPr lang="en-US" sz="1300" dirty="0"/>
          </a:p>
        </p:txBody>
      </p:sp>
      <p:sp>
        <p:nvSpPr>
          <p:cNvPr id="20" name="Shape 18"/>
          <p:cNvSpPr/>
          <p:nvPr/>
        </p:nvSpPr>
        <p:spPr>
          <a:xfrm>
            <a:off x="457200" y="3108960"/>
            <a:ext cx="4023360" cy="594360"/>
          </a:xfrm>
          <a:prstGeom prst="rect">
            <a:avLst/>
          </a:prstGeom>
          <a:solidFill>
            <a:srgbClr val="FFFFFF"/>
          </a:solidFill>
          <a:ln w="15240">
            <a:solidFill>
              <a:srgbClr val="CF3338"/>
            </a:solidFill>
            <a:prstDash val="solid"/>
          </a:ln>
        </p:spPr>
      </p:sp>
      <p:sp>
        <p:nvSpPr>
          <p:cNvPr id="21" name="Shape 19"/>
          <p:cNvSpPr/>
          <p:nvPr/>
        </p:nvSpPr>
        <p:spPr>
          <a:xfrm>
            <a:off x="594360" y="3246120"/>
            <a:ext cx="320040" cy="320040"/>
          </a:xfrm>
          <a:prstGeom prst="ellipse">
            <a:avLst/>
          </a:prstGeom>
          <a:solidFill>
            <a:srgbClr val="CF3338"/>
          </a:solidFill>
          <a:ln w="12700">
            <a:solidFill>
              <a:srgbClr val="CF3338"/>
            </a:solidFill>
            <a:prstDash val="solid"/>
          </a:ln>
        </p:spPr>
      </p:sp>
      <p:sp>
        <p:nvSpPr>
          <p:cNvPr id="22" name="Text 20"/>
          <p:cNvSpPr/>
          <p:nvPr/>
        </p:nvSpPr>
        <p:spPr>
          <a:xfrm>
            <a:off x="594360" y="322783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t>
            </a:r>
            <a:endParaRPr lang="en-US" sz="1400" dirty="0"/>
          </a:p>
        </p:txBody>
      </p:sp>
      <p:sp>
        <p:nvSpPr>
          <p:cNvPr id="23" name="Text 21"/>
          <p:cNvSpPr/>
          <p:nvPr/>
        </p:nvSpPr>
        <p:spPr>
          <a:xfrm>
            <a:off x="1005840" y="3108960"/>
            <a:ext cx="3383280" cy="594360"/>
          </a:xfrm>
          <a:prstGeom prst="rect">
            <a:avLst/>
          </a:prstGeom>
          <a:noFill/>
          <a:ln/>
        </p:spPr>
        <p:txBody>
          <a:bodyPr wrap="square" lIns="0" tIns="0" rIns="0" bIns="0" rtlCol="0" anchor="ctr"/>
          <a:lstStyle/>
          <a:p>
            <a:pPr indent="0" marL="0">
              <a:buNone/>
            </a:pPr>
            <a:r>
              <a:rPr lang="en-US" sz="1300" dirty="0">
                <a:solidFill>
                  <a:srgbClr val="1F2120"/>
                </a:solidFill>
                <a:latin typeface="Arial" pitchFamily="34" charset="0"/>
                <a:ea typeface="Arial" pitchFamily="34" charset="-122"/>
                <a:cs typeface="Arial" pitchFamily="34" charset="-120"/>
              </a:rPr>
              <a:t>Building your own GPT or assistant</a:t>
            </a:r>
            <a:endParaRPr lang="en-US" sz="1300" dirty="0"/>
          </a:p>
        </p:txBody>
      </p:sp>
      <p:sp>
        <p:nvSpPr>
          <p:cNvPr id="24" name="Shape 22"/>
          <p:cNvSpPr/>
          <p:nvPr/>
        </p:nvSpPr>
        <p:spPr>
          <a:xfrm>
            <a:off x="4663440" y="3108960"/>
            <a:ext cx="4023360" cy="594360"/>
          </a:xfrm>
          <a:prstGeom prst="rect">
            <a:avLst/>
          </a:prstGeom>
          <a:solidFill>
            <a:srgbClr val="FFFFFF"/>
          </a:solidFill>
          <a:ln w="15240">
            <a:solidFill>
              <a:srgbClr val="CF3338"/>
            </a:solidFill>
            <a:prstDash val="solid"/>
          </a:ln>
        </p:spPr>
      </p:sp>
      <p:sp>
        <p:nvSpPr>
          <p:cNvPr id="25" name="Shape 23"/>
          <p:cNvSpPr/>
          <p:nvPr/>
        </p:nvSpPr>
        <p:spPr>
          <a:xfrm>
            <a:off x="4800600" y="3246120"/>
            <a:ext cx="320040" cy="320040"/>
          </a:xfrm>
          <a:prstGeom prst="ellipse">
            <a:avLst/>
          </a:prstGeom>
          <a:solidFill>
            <a:srgbClr val="CF3338"/>
          </a:solidFill>
          <a:ln w="12700">
            <a:solidFill>
              <a:srgbClr val="CF3338"/>
            </a:solidFill>
            <a:prstDash val="solid"/>
          </a:ln>
        </p:spPr>
      </p:sp>
      <p:sp>
        <p:nvSpPr>
          <p:cNvPr id="26" name="Text 24"/>
          <p:cNvSpPr/>
          <p:nvPr/>
        </p:nvSpPr>
        <p:spPr>
          <a:xfrm>
            <a:off x="4800600" y="322783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t>
            </a:r>
            <a:endParaRPr lang="en-US" sz="1400" dirty="0"/>
          </a:p>
        </p:txBody>
      </p:sp>
      <p:sp>
        <p:nvSpPr>
          <p:cNvPr id="27" name="Text 25"/>
          <p:cNvSpPr/>
          <p:nvPr/>
        </p:nvSpPr>
        <p:spPr>
          <a:xfrm>
            <a:off x="5212080" y="3108960"/>
            <a:ext cx="3383280" cy="594360"/>
          </a:xfrm>
          <a:prstGeom prst="rect">
            <a:avLst/>
          </a:prstGeom>
          <a:noFill/>
          <a:ln/>
        </p:spPr>
        <p:txBody>
          <a:bodyPr wrap="square" lIns="0" tIns="0" rIns="0" bIns="0" rtlCol="0" anchor="ctr"/>
          <a:lstStyle/>
          <a:p>
            <a:pPr indent="0" marL="0">
              <a:buNone/>
            </a:pPr>
            <a:r>
              <a:rPr lang="en-US" sz="1300" dirty="0">
                <a:solidFill>
                  <a:srgbClr val="1F2120"/>
                </a:solidFill>
                <a:latin typeface="Arial" pitchFamily="34" charset="0"/>
                <a:ea typeface="Arial" pitchFamily="34" charset="-122"/>
                <a:cs typeface="Arial" pitchFamily="34" charset="-120"/>
              </a:rPr>
              <a:t>Connecting Excel to data outside the workbook</a:t>
            </a:r>
            <a:endParaRPr lang="en-US" sz="1300" dirty="0"/>
          </a:p>
        </p:txBody>
      </p:sp>
      <p:sp>
        <p:nvSpPr>
          <p:cNvPr id="28" name="Shape 26"/>
          <p:cNvSpPr/>
          <p:nvPr/>
        </p:nvSpPr>
        <p:spPr>
          <a:xfrm>
            <a:off x="457200" y="4114800"/>
            <a:ext cx="8229600" cy="502920"/>
          </a:xfrm>
          <a:prstGeom prst="rect">
            <a:avLst/>
          </a:prstGeom>
          <a:solidFill>
            <a:srgbClr val="CF3338"/>
          </a:solidFill>
          <a:ln w="12700">
            <a:solidFill>
              <a:srgbClr val="CF3338"/>
            </a:solidFill>
            <a:prstDash val="solid"/>
          </a:ln>
        </p:spPr>
      </p:sp>
      <p:sp>
        <p:nvSpPr>
          <p:cNvPr id="29" name="Text 27"/>
          <p:cNvSpPr/>
          <p:nvPr/>
        </p:nvSpPr>
        <p:spPr>
          <a:xfrm>
            <a:off x="457200" y="4114800"/>
            <a:ext cx="82296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Keep following. We'll get to all of it. Today was just the doorway.</a:t>
            </a:r>
            <a:endParaRPr lang="en-US" sz="1400" dirty="0"/>
          </a:p>
        </p:txBody>
      </p:sp>
      <p:sp>
        <p:nvSpPr>
          <p:cNvPr id="30" name="Text 28"/>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15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2600" b="1" dirty="0">
                <a:solidFill>
                  <a:srgbClr val="1F2120"/>
                </a:solidFill>
                <a:latin typeface="Arial Black" pitchFamily="34" charset="0"/>
                <a:ea typeface="Arial Black" pitchFamily="34" charset="-122"/>
                <a:cs typeface="Arial Black" pitchFamily="34" charset="-120"/>
              </a:rPr>
              <a:t>Before the next AI thing, nail the foundation</a:t>
            </a:r>
            <a:endParaRPr lang="en-US" sz="2600" dirty="0"/>
          </a:p>
        </p:txBody>
      </p:sp>
      <p:sp>
        <p:nvSpPr>
          <p:cNvPr id="3" name="Text 1"/>
          <p:cNvSpPr/>
          <p:nvPr/>
        </p:nvSpPr>
        <p:spPr>
          <a:xfrm>
            <a:off x="457200" y="960120"/>
            <a:ext cx="8229600" cy="365760"/>
          </a:xfrm>
          <a:prstGeom prst="rect">
            <a:avLst/>
          </a:prstGeom>
          <a:noFill/>
          <a:ln/>
        </p:spPr>
        <p:txBody>
          <a:bodyPr wrap="square" lIns="0" tIns="0" rIns="0" bIns="0" rtlCol="0" anchor="ctr"/>
          <a:lstStyle/>
          <a:p>
            <a:pPr indent="0" marL="0">
              <a:buNone/>
            </a:pPr>
            <a:r>
              <a:rPr lang="en-US" sz="1300" i="1" dirty="0">
                <a:solidFill>
                  <a:srgbClr val="707070"/>
                </a:solidFill>
                <a:latin typeface="Arial" pitchFamily="34" charset="0"/>
                <a:ea typeface="Arial" pitchFamily="34" charset="-122"/>
                <a:cs typeface="Arial" pitchFamily="34" charset="-120"/>
              </a:rPr>
              <a:t>If today's Power Query step felt fuzzy, start here.</a:t>
            </a:r>
            <a:endParaRPr lang="en-US" sz="1300" dirty="0"/>
          </a:p>
        </p:txBody>
      </p:sp>
      <p:pic>
        <p:nvPicPr>
          <p:cNvPr id="4" name="Image 0" descr="/sessions/youthful-relaxed-sagan/mnt/outputs/mdaxl.png">    </p:cNvPr>
          <p:cNvPicPr>
            <a:picLocks noChangeAspect="1"/>
          </p:cNvPicPr>
          <p:nvPr/>
        </p:nvPicPr>
        <p:blipFill>
          <a:blip r:embed="rId1"/>
          <a:srcRect l="0" r="0" t="0" b="0"/>
          <a:stretch/>
        </p:blipFill>
        <p:spPr>
          <a:xfrm>
            <a:off x="640080" y="1508760"/>
            <a:ext cx="2377440" cy="3017520"/>
          </a:xfrm>
          <a:prstGeom prst="rect">
            <a:avLst/>
          </a:prstGeom>
        </p:spPr>
      </p:pic>
      <p:sp>
        <p:nvSpPr>
          <p:cNvPr id="5" name="Text 2"/>
          <p:cNvSpPr/>
          <p:nvPr/>
        </p:nvSpPr>
        <p:spPr>
          <a:xfrm>
            <a:off x="3383280" y="1554480"/>
            <a:ext cx="5303520" cy="548640"/>
          </a:xfrm>
          <a:prstGeom prst="rect">
            <a:avLst/>
          </a:prstGeom>
          <a:noFill/>
          <a:ln/>
        </p:spPr>
        <p:txBody>
          <a:bodyPr wrap="square" lIns="0" tIns="0" rIns="0" bIns="0" rtlCol="0" anchor="ctr"/>
          <a:lstStyle/>
          <a:p>
            <a:pPr indent="0" marL="0">
              <a:buNone/>
            </a:pPr>
            <a:r>
              <a:rPr lang="en-US" sz="2200" b="1" dirty="0">
                <a:solidFill>
                  <a:srgbClr val="CF3338"/>
                </a:solidFill>
                <a:latin typeface="Arial Black" pitchFamily="34" charset="0"/>
                <a:ea typeface="Arial Black" pitchFamily="34" charset="-122"/>
                <a:cs typeface="Arial Black" pitchFamily="34" charset="-120"/>
              </a:rPr>
              <a:t>Modern Data Analytics in Excel</a:t>
            </a:r>
            <a:endParaRPr lang="en-US" sz="2200" dirty="0"/>
          </a:p>
        </p:txBody>
      </p:sp>
      <p:sp>
        <p:nvSpPr>
          <p:cNvPr id="6" name="Text 3"/>
          <p:cNvSpPr/>
          <p:nvPr/>
        </p:nvSpPr>
        <p:spPr>
          <a:xfrm>
            <a:off x="3383280" y="2057400"/>
            <a:ext cx="5303520" cy="365760"/>
          </a:xfrm>
          <a:prstGeom prst="rect">
            <a:avLst/>
          </a:prstGeom>
          <a:noFill/>
          <a:ln/>
        </p:spPr>
        <p:txBody>
          <a:bodyPr wrap="square" lIns="0" tIns="0" rIns="0" bIns="0" rtlCol="0" anchor="ctr"/>
          <a:lstStyle/>
          <a:p>
            <a:pPr indent="0" marL="0">
              <a:buNone/>
            </a:pPr>
            <a:r>
              <a:rPr lang="en-US" sz="1300" i="1" dirty="0">
                <a:solidFill>
                  <a:srgbClr val="707070"/>
                </a:solidFill>
                <a:latin typeface="Arial" pitchFamily="34" charset="0"/>
                <a:ea typeface="Arial" pitchFamily="34" charset="-122"/>
                <a:cs typeface="Arial" pitchFamily="34" charset="-120"/>
              </a:rPr>
              <a:t>Power Query · Power Pivot · Dynamic Arrays</a:t>
            </a:r>
            <a:endParaRPr lang="en-US" sz="1300" dirty="0"/>
          </a:p>
        </p:txBody>
      </p:sp>
      <p:sp>
        <p:nvSpPr>
          <p:cNvPr id="7" name="Text 4"/>
          <p:cNvSpPr/>
          <p:nvPr/>
        </p:nvSpPr>
        <p:spPr>
          <a:xfrm>
            <a:off x="3383280" y="2468880"/>
            <a:ext cx="5303520" cy="1554480"/>
          </a:xfrm>
          <a:prstGeom prst="rect">
            <a:avLst/>
          </a:prstGeom>
          <a:noFill/>
          <a:ln/>
        </p:spPr>
        <p:txBody>
          <a:bodyPr wrap="square" rtlCol="0" anchor="ctr"/>
          <a:lstStyle/>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The deterministic half of the equation.</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Reshape messy data the way today's demo needed.</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Auditable models you can trust on every refresh.</a:t>
            </a:r>
            <a:endParaRPr lang="en-US" sz="1300" dirty="0"/>
          </a:p>
          <a:p>
            <a:pPr marL="342900" indent="-342900">
              <a:spcAft>
                <a:spcPts val="400"/>
              </a:spcAft>
              <a:buSzPct val="100000"/>
              <a:buChar char="•"/>
            </a:pPr>
            <a:r>
              <a:rPr lang="en-US" sz="1300" dirty="0">
                <a:solidFill>
                  <a:srgbClr val="1F2120"/>
                </a:solidFill>
                <a:latin typeface="Arial" pitchFamily="34" charset="0"/>
                <a:ea typeface="Arial" pitchFamily="34" charset="-122"/>
                <a:cs typeface="Arial" pitchFamily="34" charset="-120"/>
              </a:rPr>
              <a:t>The book I'd hand any analyst getting serious about AI.</a:t>
            </a:r>
            <a:endParaRPr lang="en-US" sz="1300" dirty="0"/>
          </a:p>
        </p:txBody>
      </p:sp>
      <p:sp>
        <p:nvSpPr>
          <p:cNvPr id="8" name="Shape 5"/>
          <p:cNvSpPr/>
          <p:nvPr/>
        </p:nvSpPr>
        <p:spPr>
          <a:xfrm>
            <a:off x="3383280" y="4023360"/>
            <a:ext cx="5303520" cy="502920"/>
          </a:xfrm>
          <a:prstGeom prst="rect">
            <a:avLst/>
          </a:prstGeom>
          <a:solidFill>
            <a:srgbClr val="CF3338"/>
          </a:solidFill>
          <a:ln w="12700">
            <a:solidFill>
              <a:srgbClr val="CF3338"/>
            </a:solidFill>
            <a:prstDash val="solid"/>
          </a:ln>
        </p:spPr>
      </p:sp>
      <p:sp>
        <p:nvSpPr>
          <p:cNvPr id="9" name="Text 6">
            <a:hlinkClick r:id="rId2" tooltip=""/>
          </p:cNvPr>
          <p:cNvSpPr/>
          <p:nvPr/>
        </p:nvSpPr>
        <p:spPr>
          <a:xfrm>
            <a:off x="3383280" y="4023360"/>
            <a:ext cx="5303520" cy="502920"/>
          </a:xfrm>
          <a:prstGeom prst="rect">
            <a:avLst/>
          </a:prstGeom>
          <a:noFill/>
          <a:ln/>
        </p:spPr>
        <p:txBody>
          <a:bodyPr wrap="square" lIns="0" tIns="0" rIns="0" bIns="0" rtlCol="0" anchor="ctr"/>
          <a:lstStyle/>
          <a:p>
            <a:pPr algn="ctr" indent="0" marL="0">
              <a:buNone/>
            </a:pPr>
            <a:r>
              <a:rPr lang="en-US" sz="1500" b="1" u="sng" dirty="0">
                <a:solidFill>
                  <a:srgbClr val="FFFFFF"/>
                </a:solidFill>
                <a:latin typeface="Arial Black" pitchFamily="34" charset="0"/>
                <a:ea typeface="Arial Black" pitchFamily="34" charset="-122"/>
                <a:cs typeface="Arial Black" pitchFamily="34" charset="-120"/>
                <a:hlinkClick r:id="rId2" invalidUrl="" action="" tgtFrame="" tooltip="" history="1" highlightClick="0" endSnd="0">
                  <a:extLst>
                    <a:ext uri="{A12FA001-AC4F-418D-AE19-62706E023703}">
                      <ahyp:hlinkClr xmlns:ahyp="http://schemas.microsoft.com/office/drawing/2018/hyperlinkcolor" val="tx"/>
                    </a:ext>
                  </a:extLst>
                </a:hlinkClick>
              </a:rPr>
              <a:t>Learn more  →  stringfestanalytics.com/maxl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365760" y="228600"/>
            <a:ext cx="3657600" cy="365760"/>
          </a:xfrm>
          <a:prstGeom prst="rect">
            <a:avLst/>
          </a:prstGeom>
          <a:noFill/>
          <a:ln/>
        </p:spPr>
        <p:txBody>
          <a:bodyPr wrap="square" lIns="0" tIns="0" rIns="0" bIns="0" rtlCol="0" anchor="ctr"/>
          <a:lstStyle/>
          <a:p>
            <a:pPr indent="0" marL="0">
              <a:buNone/>
            </a:pPr>
            <a:r>
              <a:rPr lang="en-US" sz="1400" b="1" spc="400" kern="0" dirty="0">
                <a:solidFill>
                  <a:srgbClr val="1F2120"/>
                </a:solidFill>
                <a:latin typeface="Arial Black" pitchFamily="34" charset="0"/>
                <a:ea typeface="Arial Black" pitchFamily="34" charset="-122"/>
                <a:cs typeface="Arial Black" pitchFamily="34" charset="-120"/>
              </a:rPr>
              <a:t>STRINGFEST</a:t>
            </a:r>
            <a:pPr indent="0" marL="0">
              <a:buNone/>
            </a:pPr>
            <a:r>
              <a:rPr lang="en-US" sz="1400" b="1" spc="400" kern="0" dirty="0">
                <a:solidFill>
                  <a:srgbClr val="CF3338"/>
                </a:solidFill>
                <a:latin typeface="Arial" pitchFamily="34" charset="0"/>
                <a:ea typeface="Arial" pitchFamily="34" charset="-122"/>
                <a:cs typeface="Arial" pitchFamily="34" charset="-120"/>
              </a:rPr>
              <a:t> ANALYTICS</a:t>
            </a:r>
            <a:endParaRPr lang="en-US" sz="1400" dirty="0"/>
          </a:p>
        </p:txBody>
      </p:sp>
      <p:sp>
        <p:nvSpPr>
          <p:cNvPr id="3" name="Shape 1"/>
          <p:cNvSpPr/>
          <p:nvPr/>
        </p:nvSpPr>
        <p:spPr>
          <a:xfrm>
            <a:off x="0" y="1280160"/>
            <a:ext cx="164592" cy="2743200"/>
          </a:xfrm>
          <a:prstGeom prst="rect">
            <a:avLst/>
          </a:prstGeom>
          <a:solidFill>
            <a:srgbClr val="CF3338"/>
          </a:solidFill>
          <a:ln w="12700">
            <a:solidFill>
              <a:srgbClr val="CF3338"/>
            </a:solidFill>
            <a:prstDash val="solid"/>
          </a:ln>
        </p:spPr>
      </p:sp>
      <p:sp>
        <p:nvSpPr>
          <p:cNvPr id="4" name="Text 2"/>
          <p:cNvSpPr/>
          <p:nvPr/>
        </p:nvSpPr>
        <p:spPr>
          <a:xfrm>
            <a:off x="457200" y="1280160"/>
            <a:ext cx="8229600" cy="914400"/>
          </a:xfrm>
          <a:prstGeom prst="rect">
            <a:avLst/>
          </a:prstGeom>
          <a:noFill/>
          <a:ln/>
        </p:spPr>
        <p:txBody>
          <a:bodyPr wrap="square" lIns="0" tIns="0" rIns="0" bIns="0" rtlCol="0" anchor="ctr"/>
          <a:lstStyle/>
          <a:p>
            <a:pPr indent="0" marL="0">
              <a:buNone/>
            </a:pPr>
            <a:r>
              <a:rPr lang="en-US" sz="6000" b="1" dirty="0">
                <a:solidFill>
                  <a:srgbClr val="CF3338"/>
                </a:solidFill>
                <a:latin typeface="Arial Black" pitchFamily="34" charset="0"/>
                <a:ea typeface="Arial Black" pitchFamily="34" charset="-122"/>
                <a:cs typeface="Arial Black" pitchFamily="34" charset="-120"/>
              </a:rPr>
              <a:t>Thank you.</a:t>
            </a:r>
            <a:endParaRPr lang="en-US" sz="6000" dirty="0"/>
          </a:p>
        </p:txBody>
      </p:sp>
      <p:sp>
        <p:nvSpPr>
          <p:cNvPr id="5" name="Text 3"/>
          <p:cNvSpPr/>
          <p:nvPr/>
        </p:nvSpPr>
        <p:spPr>
          <a:xfrm>
            <a:off x="457200" y="2194560"/>
            <a:ext cx="8229600" cy="640080"/>
          </a:xfrm>
          <a:prstGeom prst="rect">
            <a:avLst/>
          </a:prstGeom>
          <a:noFill/>
          <a:ln/>
        </p:spPr>
        <p:txBody>
          <a:bodyPr wrap="square" lIns="0" tIns="0" rIns="0" bIns="0" rtlCol="0" anchor="ctr"/>
          <a:lstStyle/>
          <a:p>
            <a:pPr indent="0" marL="0">
              <a:buNone/>
            </a:pPr>
            <a:r>
              <a:rPr lang="en-US" sz="2800" dirty="0">
                <a:solidFill>
                  <a:srgbClr val="1F2120"/>
                </a:solidFill>
                <a:latin typeface="Arial" pitchFamily="34" charset="0"/>
                <a:ea typeface="Arial" pitchFamily="34" charset="-122"/>
                <a:cs typeface="Arial" pitchFamily="34" charset="-120"/>
              </a:rPr>
              <a:t>Questions?</a:t>
            </a:r>
            <a:endParaRPr lang="en-US" sz="2800" dirty="0"/>
          </a:p>
        </p:txBody>
      </p:sp>
      <p:sp>
        <p:nvSpPr>
          <p:cNvPr id="6" name="Text 4"/>
          <p:cNvSpPr/>
          <p:nvPr/>
        </p:nvSpPr>
        <p:spPr>
          <a:xfrm>
            <a:off x="457200" y="3291840"/>
            <a:ext cx="8229600" cy="365760"/>
          </a:xfrm>
          <a:prstGeom prst="rect">
            <a:avLst/>
          </a:prstGeom>
          <a:noFill/>
          <a:ln/>
        </p:spPr>
        <p:txBody>
          <a:bodyPr wrap="square" lIns="0" tIns="0" rIns="0" bIns="0" rtlCol="0" anchor="ctr"/>
          <a:lstStyle/>
          <a:p>
            <a:pPr indent="0" marL="0">
              <a:buNone/>
            </a:pPr>
            <a:r>
              <a:rPr lang="en-US" sz="1400" b="1" dirty="0">
                <a:solidFill>
                  <a:srgbClr val="1F2120"/>
                </a:solidFill>
                <a:latin typeface="Arial" pitchFamily="34" charset="0"/>
                <a:ea typeface="Arial" pitchFamily="34" charset="-122"/>
                <a:cs typeface="Arial" pitchFamily="34" charset="-120"/>
              </a:rPr>
              <a:t>George Mount  ·  </a:t>
            </a:r>
            <a:pPr indent="0" marL="0">
              <a:buNone/>
            </a:pPr>
            <a:r>
              <a:rPr lang="en-US" sz="1400" dirty="0">
                <a:solidFill>
                  <a:srgbClr val="CF3338"/>
                </a:solidFill>
                <a:latin typeface="Arial" pitchFamily="34" charset="0"/>
                <a:ea typeface="Arial" pitchFamily="34" charset="-122"/>
                <a:cs typeface="Arial" pitchFamily="34" charset="-120"/>
              </a:rPr>
              <a:t>george@stringfestanalytics.com</a:t>
            </a:r>
            <a:endParaRPr lang="en-US" sz="1400" dirty="0"/>
          </a:p>
        </p:txBody>
      </p:sp>
      <p:sp>
        <p:nvSpPr>
          <p:cNvPr id="7" name="Text 5">
            <a:hlinkClick r:id="rId1" tooltip=""/>
          </p:cNvPr>
          <p:cNvSpPr/>
          <p:nvPr/>
        </p:nvSpPr>
        <p:spPr>
          <a:xfrm>
            <a:off x="457200" y="3657600"/>
            <a:ext cx="8229600" cy="365760"/>
          </a:xfrm>
          <a:prstGeom prst="rect">
            <a:avLst/>
          </a:prstGeom>
          <a:noFill/>
          <a:ln/>
        </p:spPr>
        <p:txBody>
          <a:bodyPr wrap="square" lIns="0" tIns="0" rIns="0" bIns="0" rtlCol="0" anchor="ctr"/>
          <a:lstStyle/>
          <a:p>
            <a:pPr indent="0" marL="0">
              <a:buNone/>
            </a:pPr>
            <a:r>
              <a:rPr lang="en-US" sz="1400" u="sng" dirty="0">
                <a:solidFill>
                  <a:srgbClr val="70707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stringfestanalytics.com/maxl  ·  Modern Data Analytics in Excel</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p:bgPr>
    </p:bg>
    <p:spTree>
      <p:nvGrpSpPr>
        <p:cNvPr id="1" name=""/>
        <p:cNvGrpSpPr/>
        <p:nvPr/>
      </p:nvGrpSpPr>
      <p:grpSpPr>
        <a:xfrm>
          <a:off x="0" y="0"/>
          <a:ext cx="0" cy="0"/>
          <a:chOff x="0" y="0"/>
          <a:chExt cx="0" cy="0"/>
        </a:xfrm>
      </p:grpSpPr>
      <p:sp>
        <p:nvSpPr>
          <p:cNvPr id="2" name="Title"/>
          <p:cNvSpPr/>
          <p:nvPr/>
        </p:nvSpPr>
        <p:spPr>
          <a:xfrm>
            <a:off x="457200" y="365760"/>
            <a:ext cx="8229600" cy="640080"/>
          </a:xfrm>
          <a:prstGeom prst="rect">
            <a:avLst/>
          </a:prstGeom>
          <a:noFill/>
          <a:ln/>
        </p:spPr>
        <p:txBody>
          <a:bodyPr wrap="square" lIns="0" tIns="0" rIns="0" bIns="0" rtlCol="0" anchor="ctr"/>
          <a:lstStyle/>
          <a:p>
            <a:pPr indent="0" marL="0">
              <a:buNone/>
            </a:pPr>
            <a:r>
              <a:rPr lang="en-US" sz="3200" b="1" dirty="0">
                <a:solidFill>
                  <a:srgbClr val="1F2120"/>
                </a:solidFill>
                <a:latin typeface="Arial Black" pitchFamily="34" charset="0"/>
                <a:ea typeface="Arial Black" pitchFamily="34" charset="-122"/>
                <a:cs typeface="Arial Black" pitchFamily="34" charset="-120"/>
              </a:rPr>
              <a:t>From recipe to fluency</a:t>
            </a:r>
            <a:endParaRPr lang="en-US" sz="3200" dirty="0"/>
          </a:p>
        </p:txBody>
      </p:sp>
      <p:sp>
        <p:nvSpPr>
          <p:cNvPr id="3" name="Subtitle"/>
          <p:cNvSpPr/>
          <p:nvPr/>
        </p:nvSpPr>
        <p:spPr>
          <a:xfrm>
            <a:off x="457200" y="960120"/>
            <a:ext cx="8229600" cy="365760"/>
          </a:xfrm>
          <a:prstGeom prst="rect">
            <a:avLst/>
          </a:prstGeom>
          <a:noFill/>
          <a:ln/>
        </p:spPr>
        <p:txBody>
          <a:bodyPr wrap="square" lIns="0" tIns="0" rIns="0" bIns="0" rtlCol="0" anchor="ctr"/>
          <a:lstStyle/>
          <a:p>
            <a:pPr indent="0" marL="0">
              <a:buNone/>
            </a:pPr>
            <a:r>
              <a:rPr lang="en-US" sz="1300" i="1" dirty="0">
                <a:solidFill>
                  <a:srgbClr val="707070"/>
                </a:solidFill>
                <a:latin typeface="Arial" pitchFamily="34" charset="0"/>
                <a:ea typeface="Arial" pitchFamily="34" charset="-122"/>
                <a:cs typeface="Arial" pitchFamily="34" charset="-120"/>
              </a:rPr>
              <a:t>GCSE is training wheels. The cleaner your data, the fewer ingredients you have to spell out.</a:t>
            </a:r>
            <a:endParaRPr lang="en-US" sz="1300" dirty="0"/>
          </a:p>
        </p:txBody>
      </p:sp>
      <p:sp>
        <p:nvSpPr>
          <p:cNvPr id="4" name="Panel"/>
          <p:cNvSpPr/>
          <p:nvPr/>
        </p:nvSpPr>
        <p:spPr>
          <a:xfrm>
            <a:off x="457200" y="1417320"/>
            <a:ext cx="8229600" cy="2148840"/>
          </a:xfrm>
          <a:prstGeom prst="rect">
            <a:avLst/>
          </a:prstGeom>
          <a:solidFill>
            <a:srgbClr val="FFFFFF"/>
          </a:solidFill>
          <a:ln w="15240">
            <a:solidFill>
              <a:srgbClr val="707070"/>
            </a:solidFill>
            <a:prstDash val="solid"/>
          </a:ln>
        </p:spPr>
      </p:sp>
      <p:sp>
        <p:nvSpPr>
          <p:cNvPr id="5" name="Tab"/>
          <p:cNvSpPr/>
          <p:nvPr/>
        </p:nvSpPr>
        <p:spPr>
          <a:xfrm>
            <a:off x="457200" y="1417320"/>
            <a:ext cx="1097280" cy="2148840"/>
          </a:xfrm>
          <a:prstGeom prst="rect">
            <a:avLst/>
          </a:prstGeom>
          <a:solidFill>
            <a:srgbClr val="1F2120"/>
          </a:solidFill>
          <a:ln w="12700">
            <a:solidFill>
              <a:srgbClr val="1F2120"/>
            </a:solidFill>
            <a:prstDash val="solid"/>
          </a:ln>
        </p:spPr>
      </p:sp>
      <p:sp>
        <p:nvSpPr>
          <p:cNvPr id="6" name="TabLabel"/>
          <p:cNvSpPr/>
          <p:nvPr/>
        </p:nvSpPr>
        <p:spPr>
          <a:xfrm>
            <a:off x="457200" y="1417320"/>
            <a:ext cx="1097280" cy="2148840"/>
          </a:xfrm>
          <a:prstGeom prst="rect">
            <a:avLst/>
          </a:prstGeom>
          <a:noFill/>
          <a:ln/>
        </p:spPr>
        <p:txBody>
          <a:bodyPr wrap="square" lIns="0" tIns="0" rIns="0" bIns="0" rtlCol="0" anchor="ctr"/>
          <a:lstStyle/>
          <a:p>
            <a:pPr algn="ctr" indent="0" marL="0">
              <a:buNone/>
            </a:pPr>
            <a:r>
              <a:rPr lang="en-US" sz="1500" b="1" spc="300" kern="0" dirty="0">
                <a:solidFill>
                  <a:srgbClr val="FFFFFF"/>
                </a:solidFill>
                <a:latin typeface="Arial Black" pitchFamily="34" charset="0"/>
                <a:ea typeface="Arial Black" pitchFamily="34" charset="-122"/>
                <a:cs typeface="Arial Black" pitchFamily="34" charset="-120"/>
              </a:rPr>
              <a:t>FLUENT</a:t>
            </a:r>
            <a:endParaRPr lang="en-US" sz="1500" dirty="0"/>
          </a:p>
        </p:txBody>
      </p:sp>
      <p:sp>
        <p:nvSpPr>
          <p:cNvPr id="7" name="Prompts"/>
          <p:cNvSpPr/>
          <p:nvPr/>
        </p:nvSpPr>
        <p:spPr>
          <a:xfrm>
            <a:off x="1737360" y="1508760"/>
            <a:ext cx="6766560" cy="1965960"/>
          </a:xfrm>
          <a:prstGeom prst="rect">
            <a:avLst/>
          </a:prstGeom>
          <a:noFill/>
          <a:ln/>
        </p:spPr>
        <p:txBody>
          <a:bodyPr wrap="square" lIns="0" tIns="0" rIns="0" bIns="0" rtlCol="0" anchor="ctr"/>
          <a:lstStyle/>
          <a:p>
            <a:pPr indent="-274320" marL="274320" marR="91440">
              <a:lnSpc>
                <a:spcPct val="100000"/>
              </a:lnSpc>
              <a:spcAft>
                <a:spcPts val="800"/>
              </a:spcAft>
              <a:buFont typeface="Arial" pitchFamily="34" charset="0"/>
              <a:buChar char="→"/>
            </a:pPr>
            <a:r>
              <a:rPr lang="en-US" sz="1300" i="1" dirty="0">
                <a:solidFill>
                  <a:srgbClr val="1F2120"/>
                </a:solidFill>
                <a:latin typeface="Arial" pitchFamily="34" charset="0"/>
                <a:ea typeface="Arial" pitchFamily="34" charset="-122"/>
                <a:cs typeface="Arial" pitchFamily="34" charset="-120"/>
              </a:rPr>
              <a:t>“Break that down by Category within each Channel. Which one drives the gap between HoReCa and Retail?”</a:t>
            </a:r>
          </a:p>
          <a:p>
            <a:pPr indent="-274320" marL="274320" marR="91440">
              <a:lnSpc>
                <a:spcPct val="100000"/>
              </a:lnSpc>
              <a:spcAft>
                <a:spcPts val="800"/>
              </a:spcAft>
              <a:buFont typeface="Arial" pitchFamily="34" charset="0"/>
              <a:buChar char="→"/>
            </a:pPr>
            <a:r>
              <a:rPr lang="en-US" sz="1300" i="1" dirty="0">
                <a:solidFill>
                  <a:srgbClr val="1F2120"/>
                </a:solidFill>
                <a:latin typeface="Arial" pitchFamily="34" charset="0"/>
                <a:ea typeface="Arial" pitchFamily="34" charset="-122"/>
                <a:cs typeface="Arial" pitchFamily="34" charset="-120"/>
              </a:rPr>
              <a:t>“Rank Regions by total Spend and flag the top Category in each, as a short table for a slide.”</a:t>
            </a:r>
          </a:p>
          <a:p>
            <a:pPr indent="-274320" marL="274320" marR="91440">
              <a:lnSpc>
                <a:spcPct val="100000"/>
              </a:lnSpc>
              <a:spcAft>
                <a:spcPts val="1100"/>
              </a:spcAft>
              <a:buFont typeface="Arial" pitchFamily="34" charset="0"/>
              <a:buChar char="→"/>
            </a:pPr>
            <a:r>
              <a:rPr lang="en-US" sz="1300" i="1" dirty="0">
                <a:solidFill>
                  <a:srgbClr val="1F2120"/>
                </a:solidFill>
                <a:latin typeface="Arial" pitchFamily="34" charset="0"/>
                <a:ea typeface="Arial" pitchFamily="34" charset="-122"/>
                <a:cs typeface="Arial" pitchFamily="34" charset="-120"/>
              </a:rPr>
              <a:t>“Which Channel over-indexes on Fresh versus Grocery?”</a:t>
            </a:r>
          </a:p>
          <a:p>
            <a:pPr indent="0" marL="0">
              <a:buNone/>
            </a:pPr>
            <a:r>
              <a:rPr lang="en-US" sz="1100" dirty="0">
                <a:solidFill>
                  <a:srgbClr val="707070"/>
                </a:solidFill>
                <a:latin typeface="Arial" pitchFamily="34" charset="0"/>
                <a:ea typeface="Arial" pitchFamily="34" charset="-122"/>
                <a:cs typeface="Arial" pitchFamily="34" charset="-120"/>
              </a:rPr>
              <a:t>Each one is a follow-up. Notice what's gone: no encodings, no column lists. The clean table carries that, so you can just think out loud.</a:t>
            </a:r>
            <a:endParaRPr lang="en-US" sz="1100" dirty="0"/>
          </a:p>
        </p:txBody>
      </p:sp>
      <p:sp>
        <p:nvSpPr>
          <p:cNvPr id="8" name="ClosingBand"/>
          <p:cNvSpPr/>
          <p:nvPr/>
        </p:nvSpPr>
        <p:spPr>
          <a:xfrm>
            <a:off x="457200" y="3703320"/>
            <a:ext cx="8229600" cy="868680"/>
          </a:xfrm>
          <a:prstGeom prst="rect">
            <a:avLst/>
          </a:prstGeom>
          <a:solidFill>
            <a:srgbClr val="CF3338"/>
          </a:solidFill>
          <a:ln/>
        </p:spPr>
        <p:txBody>
          <a:bodyPr wrap="square" lIns="137160" tIns="45720" rIns="137160" bIns="45720" rtlCol="0" anchor="ctr"/>
          <a:lstStyle/>
          <a:p>
            <a:pPr algn="ctr" indent="0" marL="0">
              <a:buNone/>
            </a:pPr>
            <a:r>
              <a:rPr lang="en-US" sz="1300" b="1" i="1" dirty="0">
                <a:solidFill>
                  <a:srgbClr val="FFFFFF"/>
                </a:solidFill>
                <a:latin typeface="Arial" pitchFamily="34" charset="0"/>
                <a:ea typeface="Arial" pitchFamily="34" charset="-122"/>
                <a:cs typeface="Arial" pitchFamily="34" charset="-120"/>
              </a:rPr>
              <a:t>Prompting is like learning a language: drill every rule at first, then just talk. Reach back for Goal · Context · Source · Expectations whenever an answer comes back wrong.</a:t>
            </a:r>
            <a:endParaRPr lang="en-US" sz="1300" dirty="0"/>
          </a:p>
        </p:txBody>
      </p:sp>
      <p:sp>
        <p:nvSpPr>
          <p:cNvPr id="9" name="Footer"/>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14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7F2619"/>
        </a:solidFill>
      </p:bgPr>
    </p:bg>
    <p:spTree>
      <p:nvGrpSpPr>
        <p:cNvPr id="1" name=""/>
        <p:cNvGrpSpPr/>
        <p:nvPr/>
      </p:nvGrpSpPr>
      <p:grpSpPr>
        <a:xfrm>
          <a:off x="0" y="0"/>
          <a:ext cx="0" cy="0"/>
          <a:chOff x="0" y="0"/>
          <a:chExt cx="0" cy="0"/>
        </a:xfrm>
      </p:grpSpPr>
      <p:pic>
        <p:nvPicPr>
          <p:cNvPr id="2" name="Membership Art"/>
          <p:cNvPicPr>
            <a:picLocks noChangeAspect="1"/>
          </p:cNvPicPr>
          <p:nvPr/>
        </p:nvPicPr>
        <p:blipFill>
          <a:blip r:embed="rId4"/>
          <a:stretch>
            <a:fillRect/>
          </a:stretch>
        </p:blipFill>
        <p:spPr>
          <a:xfrm>
            <a:off x="2196840" y="240000"/>
            <a:ext cx="4750320" cy="3169800"/>
          </a:xfrm>
          <a:prstGeom prst="rect">
            <a:avLst/>
          </a:prstGeom>
        </p:spPr>
      </p:pic>
      <p:sp>
        <p:nvSpPr>
          <p:cNvPr id="3" name="ValueLine"/>
          <p:cNvSpPr/>
          <p:nvPr/>
        </p:nvSpPr>
        <p:spPr>
          <a:xfrm>
            <a:off x="685800" y="3500000"/>
            <a:ext cx="7772400" cy="320000"/>
          </a:xfrm>
          <a:prstGeom prst="rect">
            <a:avLst/>
          </a:prstGeom>
          <a:noFill/>
          <a:ln/>
        </p:spPr>
        <p:txBody>
          <a:bodyPr wrap="square" lIns="0" tIns="0" rIns="0" bIns="0" rtlCol="0" anchor="ctr"/>
          <a:lstStyle/>
          <a:p>
            <a:pPr algn="ctr" indent="0" marL="0">
              <a:buNone/>
            </a:pPr>
            <a:r>
              <a:rPr lang="en-US" sz="1400" dirty="0">
                <a:solidFill>
                  <a:srgbClr val="EFE3C8"/>
                </a:solidFill>
                <a:latin typeface="Arial" pitchFamily="34" charset="0"/>
                <a:ea typeface="Arial" pitchFamily="34" charset="-122"/>
                <a:cs typeface="Arial" pitchFamily="34" charset="-120"/>
              </a:rPr>
              <a:t>Today's session was recorded. Get it, plus the full back catalog, in the membership.</a:t>
            </a:r>
            <a:endParaRPr lang="en-US" sz="1400" dirty="0"/>
          </a:p>
        </p:txBody>
      </p:sp>
      <p:sp>
        <p:nvSpPr>
          <p:cNvPr id="4" name="Price"/>
          <p:cNvSpPr/>
          <p:nvPr/>
        </p:nvSpPr>
        <p:spPr>
          <a:xfrm>
            <a:off x="685800" y="3880000"/>
            <a:ext cx="7772400" cy="460000"/>
          </a:xfrm>
          <a:prstGeom prst="rect">
            <a:avLst/>
          </a:prstGeom>
          <a:noFill/>
          <a:ln/>
        </p:spPr>
        <p:txBody>
          <a:bodyPr wrap="square" lIns="0" tIns="0" rIns="0" bIns="0" rtlCol="0" anchor="ctr"/>
          <a:lstStyle/>
          <a:p>
            <a:pPr algn="ctr" indent="0" marL="0">
              <a:buNone/>
            </a:pPr>
            <a:r>
              <a:rPr lang="en-US" sz="2600" b="1" dirty="0">
                <a:solidFill>
                  <a:srgbClr val="E6A93C"/>
                </a:solidFill>
                <a:latin typeface="Arial Black" pitchFamily="34" charset="0"/>
                <a:ea typeface="Arial Black" pitchFamily="34" charset="-122"/>
                <a:cs typeface="Arial Black" pitchFamily="34" charset="-120"/>
              </a:rPr>
              <a:t>$10 / month</a:t>
            </a:r>
            <a:r>
              <a:rPr lang="en-US" sz="1500" i="1" baseline="6000" dirty="0">
                <a:solidFill>
                  <a:srgbClr val="EFE3C8"/>
                </a:solidFill>
                <a:latin typeface="Arial" pitchFamily="34" charset="0"/>
                <a:ea typeface="Arial" pitchFamily="34" charset="-122"/>
                <a:cs typeface="Arial" pitchFamily="34" charset="-120"/>
              </a:rPr>
              <a:t xml:space="preserve">    cancel anytime</a:t>
            </a:r>
            <a:endParaRPr lang="en-US" sz="2600" dirty="0"/>
          </a:p>
        </p:txBody>
      </p:sp>
      <p:sp>
        <p:nvSpPr>
          <p:cNvPr id="5" name="LinkPill">
            <a:hlinkClick xmlns:a="http://schemas.openxmlformats.org/drawingml/2006/main" xmlns:r="http://schemas.openxmlformats.org/officeDocument/2006/relationships" r:id="rId2"/>
          </p:cNvPr>
          <p:cNvSpPr/>
          <p:nvPr/>
        </p:nvSpPr>
        <p:spPr>
          <a:xfrm>
            <a:off x="2011680" y="4400000"/>
            <a:ext cx="5120640" cy="600000"/>
          </a:xfrm>
          <a:prstGeom prst="roundRect">
            <a:avLst>
              <a:gd name="adj" fmla="val 50000"/>
            </a:avLst>
          </a:prstGeom>
          <a:solidFill>
            <a:srgbClr val="E6A93C"/>
          </a:solidFill>
          <a:ln/>
        </p:spPr>
        <p:txBody>
          <a:bodyPr wrap="square" lIns="91440" tIns="0" rIns="91440" bIns="0" rtlCol="0" anchor="ctr"/>
          <a:lstStyle/>
          <a:p>
            <a:pPr algn="ctr" indent="0" marL="0">
              <a:buNone/>
            </a:pPr>
            <a:r>
              <a:rPr lang="en-US" sz="1500" b="1" dirty="0">
                <a:solidFill>
                  <a:srgbClr val="3B2218"/>
                </a:solidFill>
                <a:latin typeface="Arial" pitchFamily="34" charset="0"/>
                <a:ea typeface="Arial" pitchFamily="34" charset="-122"/>
                <a:cs typeface="Arial" pitchFamily="34" charset="-120"/>
              </a:rPr>
              <a:t>stringfestdata.gumroad.com/l/mxlais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EEECE1"/>
        </a:solidFill>
      </p:bgPr>
    </p:bg>
    <p:spTree>
      <p:nvGrpSpPr>
        <p:cNvPr id="1" name=""/>
        <p:cNvGrpSpPr/>
        <p:nvPr/>
      </p:nvGrpSpPr>
      <p:grpSpPr>
        <a:xfrm>
          <a:off x="0" y="0"/>
          <a:ext cx="0" cy="0"/>
          <a:chOff x="0" y="0"/>
          <a:chExt cx="0" cy="0"/>
        </a:xfrm>
      </p:grpSpPr>
      <p:sp>
        <p:nvSpPr>
          <p:cNvPr id="2" name="Title"/>
          <p:cNvSpPr/>
          <p:nvPr/>
        </p:nvSpPr>
        <p:spPr>
          <a:xfrm>
            <a:off x="457200" y="320040"/>
            <a:ext cx="8229600" cy="560000"/>
          </a:xfrm>
          <a:prstGeom prst="rect">
            <a:avLst/>
          </a:prstGeom>
          <a:noFill/>
          <a:ln/>
        </p:spPr>
        <p:txBody>
          <a:bodyPr wrap="square" lIns="0" tIns="0" rIns="0" bIns="0" rtlCol="0" anchor="ctr"/>
          <a:lstStyle/>
          <a:p>
            <a:pPr indent="0" marL="0">
              <a:buNone/>
            </a:pPr>
            <a:r>
              <a:rPr lang="en-US" sz="3000" b="1" dirty="0">
                <a:solidFill>
                  <a:srgbClr val="1F2120"/>
                </a:solidFill>
                <a:latin typeface="Arial Black" pitchFamily="34" charset="0"/>
                <a:ea typeface="Arial Black" pitchFamily="34" charset="-122"/>
                <a:cs typeface="Arial Black" pitchFamily="34" charset="-120"/>
              </a:rPr>
              <a:t>Have AI document your query</a:t>
            </a:r>
            <a:endParaRPr lang="en-US" sz="3000" dirty="0"/>
          </a:p>
        </p:txBody>
      </p:sp>
      <p:sp>
        <p:nvSpPr>
          <p:cNvPr id="3" name="Subtitle"/>
          <p:cNvSpPr/>
          <p:nvPr/>
        </p:nvSpPr>
        <p:spPr>
          <a:xfrm>
            <a:off x="457200" y="900000"/>
            <a:ext cx="8229600" cy="300000"/>
          </a:xfrm>
          <a:prstGeom prst="rect">
            <a:avLst/>
          </a:prstGeom>
          <a:noFill/>
          <a:ln/>
        </p:spPr>
        <p:txBody>
          <a:bodyPr wrap="square" lIns="0" tIns="0" rIns="0" bIns="0" rtlCol="0" anchor="ctr"/>
          <a:lstStyle/>
          <a:p>
            <a:pPr indent="0" marL="0">
              <a:buNone/>
            </a:pPr>
            <a:r>
              <a:rPr lang="en-US" sz="1300" i="1" dirty="0">
                <a:solidFill>
                  <a:srgbClr val="707070"/>
                </a:solidFill>
                <a:latin typeface="Arial" pitchFamily="34" charset="0"/>
                <a:ea typeface="Arial" pitchFamily="34" charset="-122"/>
                <a:cs typeface="Arial" pitchFamily="34" charset="-120"/>
              </a:rPr>
              <a:t>You built it by clicking. Now make it readable and auditable.</a:t>
            </a:r>
            <a:endParaRPr lang="en-US" sz="1300" dirty="0"/>
          </a:p>
        </p:txBody>
      </p:sp>
      <p:sp>
        <p:nvSpPr>
          <p:cNvPr id="4" name="AskBox"/>
          <p:cNvSpPr/>
          <p:nvPr/>
        </p:nvSpPr>
        <p:spPr>
          <a:xfrm>
            <a:off x="457200" y="1280000"/>
            <a:ext cx="8229600" cy="640080"/>
          </a:xfrm>
          <a:prstGeom prst="roundRect">
            <a:avLst>
              <a:gd name="adj" fmla="val 9000"/>
            </a:avLst>
          </a:prstGeom>
          <a:solidFill>
            <a:srgbClr val="FFFFFF"/>
          </a:solidFill>
          <a:ln w="12700">
            <a:solidFill>
              <a:srgbClr val="C9C4B5"/>
            </a:solidFill>
          </a:ln>
        </p:spPr>
        <p:txBody>
          <a:bodyPr wrap="square" lIns="137160" tIns="45720" rIns="137160" bIns="45720" rtlCol="0" anchor="ctr"/>
          <a:lstStyle/>
          <a:p>
            <a:pPr indent="0" marL="0">
              <a:buNone/>
            </a:pPr>
            <a:r>
              <a:rPr lang="en-US" sz="1050" b="1" spc="200" dirty="0">
                <a:solidFill>
                  <a:srgbClr val="CF3338"/>
                </a:solidFill>
                <a:latin typeface="Arial" pitchFamily="34" charset="0"/>
                <a:ea typeface="Arial" pitchFamily="34" charset="-122"/>
                <a:cs typeface="Arial" pitchFamily="34" charset="-120"/>
              </a:rPr>
              <a:t xml:space="preserve">ASK  </a:t>
            </a:r>
            <a:r>
              <a:rPr lang="en-US" sz="1250" i="1" dirty="0">
                <a:solidFill>
                  <a:srgbClr val="1F2120"/>
                </a:solidFill>
                <a:latin typeface="Arial" pitchFamily="34" charset="0"/>
                <a:ea typeface="Arial" pitchFamily="34" charset="-122"/>
                <a:cs typeface="Arial" pitchFamily="34" charset="-120"/>
              </a:rPr>
              <a:t>Paste the M and say: "Comment each step, and flag anything fragile."</a:t>
            </a:r>
            <a:endParaRPr lang="en-US" sz="1250" dirty="0"/>
          </a:p>
        </p:txBody>
      </p:sp>
      <p:sp>
        <p:nvSpPr>
          <p:cNvPr id="5" name="CodePanel"/>
          <p:cNvSpPr/>
          <p:nvPr/>
        </p:nvSpPr>
        <p:spPr>
          <a:xfrm>
            <a:off x="457200" y="1990000"/>
            <a:ext cx="8229600" cy="2430000"/>
          </a:xfrm>
          <a:prstGeom prst="roundRect">
            <a:avLst>
              <a:gd name="adj" fmla="val 4000"/>
            </a:avLst>
          </a:prstGeom>
          <a:solidFill>
            <a:srgbClr val="1F2120"/>
          </a:solidFill>
          <a:ln/>
        </p:spPr>
        <p:txBody>
          <a:bodyPr wrap="square" lIns="182880" tIns="137160" rIns="182880" bIns="137160" rtlCol="0" anchor="ctr"/>
          <a:lstStyle/>
          <a:p>
            <a:pPr indent="0" marL="0">
              <a:lnSpc>
                <a:spcPct val="112000"/>
              </a:lnSpc>
              <a:buNone/>
            </a:pPr>
            <a:r>
              <a:rPr lang="en-US" sz="1000" dirty="0">
                <a:solidFill>
                  <a:srgbClr val="E6A93C"/>
                </a:solidFill>
                <a:latin typeface="Consolas" pitchFamily="49" charset="0"/>
                <a:cs typeface="Consolas" pitchFamily="49" charset="0"/>
              </a:rPr>
              <a:t xml:space="preserve">let</a:t>
            </a:r>
          </a:p>
          <a:p>
            <a:pPr indent="0" marL="0">
              <a:lnSpc>
                <a:spcPct val="112000"/>
              </a:lnSpc>
              <a:buNone/>
            </a:pPr>
            <a:r>
              <a:rPr lang="en-US" sz="1000" dirty="0">
                <a:solidFill>
                  <a:srgbClr val="D9D2C4"/>
                </a:solidFill>
                <a:latin typeface="Consolas" pitchFamily="49" charset="0"/>
                <a:cs typeface="Consolas" pitchFamily="49" charset="0"/>
              </a:rPr>
              <a:t xml:space="preserve">    Src = Excel.CurrentWorkbook(){[Name="Wholesale"]}[Content],</a:t>
            </a:r>
          </a:p>
          <a:p>
            <a:pPr indent="0" marL="0">
              <a:lnSpc>
                <a:spcPct val="112000"/>
              </a:lnSpc>
              <a:buNone/>
            </a:pPr>
            <a:r>
              <a:rPr lang="en-US" sz="1000" dirty="0">
                <a:solidFill>
                  <a:srgbClr val="8FB573"/>
                </a:solidFill>
                <a:latin typeface="Consolas" pitchFamily="49" charset="0"/>
                <a:cs typeface="Consolas" pitchFamily="49" charset="0"/>
              </a:rPr>
              <a:t xml:space="preserve">    // Swap the Channel codes for real labels</a:t>
            </a:r>
          </a:p>
          <a:p>
            <a:pPr indent="0" marL="0">
              <a:lnSpc>
                <a:spcPct val="112000"/>
              </a:lnSpc>
              <a:buNone/>
            </a:pPr>
            <a:r>
              <a:rPr lang="en-US" sz="1000" dirty="0">
                <a:solidFill>
                  <a:srgbClr val="D9D2C4"/>
                </a:solidFill>
                <a:latin typeface="Consolas" pitchFamily="49" charset="0"/>
                <a:cs typeface="Consolas" pitchFamily="49" charset="0"/>
              </a:rPr>
              <a:t xml:space="preserve">    C1 = Table.ReplaceValue(Src, 1, "HoReCa", Replacer.ReplaceValue, {"Channel"}),</a:t>
            </a:r>
          </a:p>
          <a:p>
            <a:pPr indent="0" marL="0">
              <a:lnSpc>
                <a:spcPct val="112000"/>
              </a:lnSpc>
              <a:buNone/>
            </a:pPr>
            <a:r>
              <a:rPr lang="en-US" sz="1000" dirty="0">
                <a:solidFill>
                  <a:srgbClr val="D9D2C4"/>
                </a:solidFill>
                <a:latin typeface="Consolas" pitchFamily="49" charset="0"/>
                <a:cs typeface="Consolas" pitchFamily="49" charset="0"/>
              </a:rPr>
              <a:t xml:space="preserve">    C2 = Table.ReplaceValue(C1, 2, "Retail", Replacer.ReplaceValue, {"Channel"}),</a:t>
            </a:r>
          </a:p>
          <a:p>
            <a:pPr indent="0" marL="0">
              <a:lnSpc>
                <a:spcPct val="112000"/>
              </a:lnSpc>
              <a:buNone/>
            </a:pPr>
            <a:r>
              <a:rPr lang="en-US" sz="1000" dirty="0">
                <a:solidFill>
                  <a:srgbClr val="8FB573"/>
                </a:solidFill>
                <a:latin typeface="Consolas" pitchFamily="49" charset="0"/>
                <a:cs typeface="Consolas" pitchFamily="49" charset="0"/>
              </a:rPr>
              <a:t xml:space="preserve">    // Six spend columns become Category + Spend</a:t>
            </a:r>
          </a:p>
          <a:p>
            <a:pPr indent="0" marL="0">
              <a:lnSpc>
                <a:spcPct val="112000"/>
              </a:lnSpc>
              <a:buNone/>
            </a:pPr>
            <a:r>
              <a:rPr lang="en-US" sz="1000" dirty="0">
                <a:solidFill>
                  <a:srgbClr val="D9D2C4"/>
                </a:solidFill>
                <a:latin typeface="Consolas" pitchFamily="49" charset="0"/>
                <a:cs typeface="Consolas" pitchFamily="49" charset="0"/>
              </a:rPr>
              <a:t xml:space="preserve">    Unpiv = Table.UnpivotOtherColumns(C2, {"Channel","Region"}, "Category", "Spend"),</a:t>
            </a:r>
          </a:p>
          <a:p>
            <a:pPr indent="0" marL="0">
              <a:lnSpc>
                <a:spcPct val="112000"/>
              </a:lnSpc>
              <a:buNone/>
            </a:pPr>
            <a:r>
              <a:rPr lang="en-US" sz="1000" dirty="0">
                <a:solidFill>
                  <a:srgbClr val="E5795A"/>
                </a:solidFill>
                <a:latin typeface="Consolas" pitchFamily="49" charset="0"/>
                <a:cs typeface="Consolas" pitchFamily="49" charset="0"/>
              </a:rPr>
              <a:t xml:space="preserve">    // ⚠ New spend columns get swept in; pin them if the schema changes</a:t>
            </a:r>
          </a:p>
          <a:p>
            <a:pPr indent="0" marL="0">
              <a:lnSpc>
                <a:spcPct val="112000"/>
              </a:lnSpc>
              <a:buNone/>
            </a:pPr>
            <a:r>
              <a:rPr lang="en-US" sz="1000" dirty="0">
                <a:solidFill>
                  <a:srgbClr val="D9D2C4"/>
                </a:solidFill>
                <a:latin typeface="Consolas" pitchFamily="49" charset="0"/>
                <a:cs typeface="Consolas" pitchFamily="49" charset="0"/>
              </a:rPr>
              <a:t xml:space="preserve">    Grp = Table.Group(Unpiv, {"Channel"}, {{"Total Spend", each List.Sum([Spend])}})</a:t>
            </a:r>
          </a:p>
          <a:p>
            <a:pPr indent="0" marL="0">
              <a:lnSpc>
                <a:spcPct val="112000"/>
              </a:lnSpc>
              <a:buNone/>
            </a:pPr>
            <a:r>
              <a:rPr lang="en-US" sz="1000" dirty="0">
                <a:solidFill>
                  <a:srgbClr val="E6A93C"/>
                </a:solidFill>
                <a:latin typeface="Consolas" pitchFamily="49" charset="0"/>
                <a:cs typeface="Consolas" pitchFamily="49" charset="0"/>
              </a:rPr>
              <a:t xml:space="preserve">in</a:t>
            </a:r>
          </a:p>
          <a:p>
            <a:pPr indent="0" marL="0">
              <a:lnSpc>
                <a:spcPct val="112000"/>
              </a:lnSpc>
              <a:buNone/>
            </a:pPr>
            <a:r>
              <a:rPr lang="en-US" sz="1000" dirty="0">
                <a:solidFill>
                  <a:srgbClr val="D9D2C4"/>
                </a:solidFill>
                <a:latin typeface="Consolas" pitchFamily="49" charset="0"/>
                <a:cs typeface="Consolas" pitchFamily="49" charset="0"/>
              </a:rPr>
              <a:t xml:space="preserve">    Grp</a:t>
            </a:r>
          </a:p>
        </p:txBody>
      </p:sp>
      <p:sp>
        <p:nvSpPr>
          <p:cNvPr id="6" name="Annot"/>
          <p:cNvSpPr/>
          <p:nvPr/>
        </p:nvSpPr>
        <p:spPr>
          <a:xfrm>
            <a:off x="457200" y="4470000"/>
            <a:ext cx="8229600" cy="280000"/>
          </a:xfrm>
          <a:prstGeom prst="rect">
            <a:avLst/>
          </a:prstGeom>
          <a:noFill/>
          <a:ln/>
        </p:spPr>
        <p:txBody>
          <a:bodyPr wrap="square" lIns="0" tIns="0" rIns="0" bIns="0" rtlCol="0" anchor="ctr"/>
          <a:lstStyle/>
          <a:p>
            <a:pPr indent="0" marL="0">
              <a:buNone/>
            </a:pPr>
            <a:r>
              <a:rPr lang="en-US" sz="1100" dirty="0">
                <a:solidFill>
                  <a:srgbClr val="707070"/>
                </a:solidFill>
                <a:latin typeface="Arial" pitchFamily="34" charset="0"/>
                <a:ea typeface="Arial" pitchFamily="34" charset="-122"/>
                <a:cs typeface="Arial" pitchFamily="34" charset="-120"/>
              </a:rPr>
              <a:t>Same query, same result on every refresh. AI makes it legible, not magic.</a:t>
            </a:r>
            <a:endParaRPr lang="en-US" sz="1100" dirty="0"/>
          </a:p>
        </p:txBody>
      </p:sp>
      <p:sp>
        <p:nvSpPr>
          <p:cNvPr id="7" name="Footer"/>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9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p:bgPr>
    </p:bg>
    <p:spTree>
      <p:nvGrpSpPr>
        <p:cNvPr id="1" name=""/>
        <p:cNvGrpSpPr/>
        <p:nvPr/>
      </p:nvGrpSpPr>
      <p:grpSpPr>
        <a:xfrm>
          <a:off x="0" y="0"/>
          <a:ext cx="0" cy="0"/>
          <a:chOff x="0" y="0"/>
          <a:chExt cx="0" cy="0"/>
        </a:xfrm>
      </p:grpSpPr>
      <p:sp>
        <p:nvSpPr>
          <p:cNvPr id="2" name="Title"/>
          <p:cNvSpPr/>
          <p:nvPr/>
        </p:nvSpPr>
        <p:spPr>
          <a:xfrm>
            <a:off x="457200" y="320040"/>
            <a:ext cx="8229600" cy="560000"/>
          </a:xfrm>
          <a:prstGeom prst="rect">
            <a:avLst/>
          </a:prstGeom>
          <a:noFill/>
          <a:ln/>
        </p:spPr>
        <p:txBody>
          <a:bodyPr wrap="square" lIns="0" tIns="0" rIns="0" bIns="0" rtlCol="0" anchor="ctr"/>
          <a:lstStyle/>
          <a:p>
            <a:pPr indent="0" marL="0">
              <a:buNone/>
            </a:pPr>
            <a:r>
              <a:rPr lang="en-US" sz="3000" b="1" dirty="0">
                <a:solidFill>
                  <a:srgbClr val="1F2120"/>
                </a:solidFill>
                <a:latin typeface="Arial Black" pitchFamily="34" charset="0"/>
                <a:ea typeface="Arial Black" pitchFamily="34" charset="-122"/>
                <a:cs typeface="Arial Black" pitchFamily="34" charset="-120"/>
              </a:rPr>
              <a:t>Or skip the clicks entirely</a:t>
            </a:r>
            <a:endParaRPr lang="en-US" sz="3000" dirty="0"/>
          </a:p>
        </p:txBody>
      </p:sp>
      <p:sp>
        <p:nvSpPr>
          <p:cNvPr id="3" name="Subtitle"/>
          <p:cNvSpPr/>
          <p:nvPr/>
        </p:nvSpPr>
        <p:spPr>
          <a:xfrm>
            <a:off x="457200" y="900000"/>
            <a:ext cx="8229600" cy="300000"/>
          </a:xfrm>
          <a:prstGeom prst="rect">
            <a:avLst/>
          </a:prstGeom>
          <a:noFill/>
          <a:ln/>
        </p:spPr>
        <p:txBody>
          <a:bodyPr wrap="square" lIns="0" tIns="0" rIns="0" bIns="0" rtlCol="0" anchor="ctr"/>
          <a:lstStyle/>
          <a:p>
            <a:pPr indent="0" marL="0">
              <a:buNone/>
            </a:pPr>
            <a:r>
              <a:rPr lang="en-US" sz="1300" i="1" dirty="0">
                <a:solidFill>
                  <a:srgbClr val="707070"/>
                </a:solidFill>
                <a:latin typeface="Arial" pitchFamily="34" charset="0"/>
                <a:ea typeface="Arial" pitchFamily="34" charset="-122"/>
                <a:cs typeface="Arial" pitchFamily="34" charset="-120"/>
              </a:rPr>
              <a:t>Describe the transform; paste the M straight into the Advanced Editor.</a:t>
            </a:r>
            <a:endParaRPr lang="en-US" sz="1300" dirty="0"/>
          </a:p>
        </p:txBody>
      </p:sp>
      <p:sp>
        <p:nvSpPr>
          <p:cNvPr id="4" name="AskBox"/>
          <p:cNvSpPr/>
          <p:nvPr/>
        </p:nvSpPr>
        <p:spPr>
          <a:xfrm>
            <a:off x="457200" y="1280000"/>
            <a:ext cx="8229600" cy="640080"/>
          </a:xfrm>
          <a:prstGeom prst="roundRect">
            <a:avLst>
              <a:gd name="adj" fmla="val 9000"/>
            </a:avLst>
          </a:prstGeom>
          <a:solidFill>
            <a:srgbClr val="FFFFFF"/>
          </a:solidFill>
          <a:ln w="12700">
            <a:solidFill>
              <a:srgbClr val="C9C4B5"/>
            </a:solidFill>
          </a:ln>
        </p:spPr>
        <p:txBody>
          <a:bodyPr wrap="square" lIns="137160" tIns="45720" rIns="137160" bIns="45720" rtlCol="0" anchor="ctr"/>
          <a:lstStyle/>
          <a:p>
            <a:pPr indent="0" marL="0">
              <a:buNone/>
            </a:pPr>
            <a:r>
              <a:rPr lang="en-US" sz="1050" b="1" spc="200" dirty="0">
                <a:solidFill>
                  <a:srgbClr val="CF3338"/>
                </a:solidFill>
                <a:latin typeface="Arial" pitchFamily="34" charset="0"/>
                <a:ea typeface="Arial" pitchFamily="34" charset="-122"/>
                <a:cs typeface="Arial" pitchFamily="34" charset="-120"/>
              </a:rPr>
              <a:t xml:space="preserve">PROMPT  </a:t>
            </a:r>
            <a:r>
              <a:rPr lang="en-US" sz="1250" i="1" dirty="0">
                <a:solidFill>
                  <a:srgbClr val="1F2120"/>
                </a:solidFill>
                <a:latin typeface="Arial" pitchFamily="34" charset="0"/>
                <a:ea typeface="Arial" pitchFamily="34" charset="-122"/>
                <a:cs typeface="Arial" pitchFamily="34" charset="-120"/>
              </a:rPr>
              <a:t>"Write Power Query M: label Channel 1/2 as HoReCa/Retail, unpivot the six spend columns to Category and Spend, group by Channel summing Spend."</a:t>
            </a:r>
            <a:endParaRPr lang="en-US" sz="1250" dirty="0"/>
          </a:p>
        </p:txBody>
      </p:sp>
      <p:sp>
        <p:nvSpPr>
          <p:cNvPr id="5" name="CodePanel"/>
          <p:cNvSpPr/>
          <p:nvPr/>
        </p:nvSpPr>
        <p:spPr>
          <a:xfrm>
            <a:off x="457200" y="1990000"/>
            <a:ext cx="8229600" cy="2430000"/>
          </a:xfrm>
          <a:prstGeom prst="roundRect">
            <a:avLst>
              <a:gd name="adj" fmla="val 4000"/>
            </a:avLst>
          </a:prstGeom>
          <a:solidFill>
            <a:srgbClr val="1F2120"/>
          </a:solidFill>
          <a:ln/>
        </p:spPr>
        <p:txBody>
          <a:bodyPr wrap="square" lIns="182880" tIns="137160" rIns="182880" bIns="137160" rtlCol="0" anchor="ctr"/>
          <a:lstStyle/>
          <a:p>
            <a:pPr indent="0" marL="0">
              <a:lnSpc>
                <a:spcPct val="112000"/>
              </a:lnSpc>
              <a:buNone/>
            </a:pPr>
            <a:r>
              <a:rPr lang="en-US" sz="1000" dirty="0">
                <a:solidFill>
                  <a:srgbClr val="E6A93C"/>
                </a:solidFill>
                <a:latin typeface="Consolas" pitchFamily="49" charset="0"/>
                <a:cs typeface="Consolas" pitchFamily="49" charset="0"/>
              </a:rPr>
              <a:t xml:space="preserve">let</a:t>
            </a:r>
          </a:p>
          <a:p>
            <a:pPr indent="0" marL="0">
              <a:lnSpc>
                <a:spcPct val="112000"/>
              </a:lnSpc>
              <a:buNone/>
            </a:pPr>
            <a:r>
              <a:rPr lang="en-US" sz="1000" dirty="0">
                <a:solidFill>
                  <a:srgbClr val="D9D2C4"/>
                </a:solidFill>
                <a:latin typeface="Consolas" pitchFamily="49" charset="0"/>
                <a:cs typeface="Consolas" pitchFamily="49" charset="0"/>
              </a:rPr>
              <a:t xml:space="preserve">    Src = Excel.CurrentWorkbook(){[Name="Wholesale"]}[Content],</a:t>
            </a:r>
          </a:p>
          <a:p>
            <a:pPr indent="0" marL="0">
              <a:lnSpc>
                <a:spcPct val="112000"/>
              </a:lnSpc>
              <a:buNone/>
            </a:pPr>
            <a:r>
              <a:rPr lang="en-US" sz="1000" dirty="0">
                <a:solidFill>
                  <a:srgbClr val="D9D2C4"/>
                </a:solidFill>
                <a:latin typeface="Consolas" pitchFamily="49" charset="0"/>
                <a:cs typeface="Consolas" pitchFamily="49" charset="0"/>
              </a:rPr>
              <a:t xml:space="preserve">    C1 = Table.ReplaceValue(Src, 1, "HoReCa", Replacer.ReplaceValue, {"Channel"}),</a:t>
            </a:r>
          </a:p>
          <a:p>
            <a:pPr indent="0" marL="0">
              <a:lnSpc>
                <a:spcPct val="112000"/>
              </a:lnSpc>
              <a:buNone/>
            </a:pPr>
            <a:r>
              <a:rPr lang="en-US" sz="1000" dirty="0">
                <a:solidFill>
                  <a:srgbClr val="D9D2C4"/>
                </a:solidFill>
                <a:latin typeface="Consolas" pitchFamily="49" charset="0"/>
                <a:cs typeface="Consolas" pitchFamily="49" charset="0"/>
              </a:rPr>
              <a:t xml:space="preserve">    C2 = Table.ReplaceValue(C1, 2, "Retail", Replacer.ReplaceValue, {"Channel"}),</a:t>
            </a:r>
          </a:p>
          <a:p>
            <a:pPr indent="0" marL="0">
              <a:lnSpc>
                <a:spcPct val="112000"/>
              </a:lnSpc>
              <a:buNone/>
            </a:pPr>
            <a:r>
              <a:rPr lang="en-US" sz="1000" dirty="0">
                <a:solidFill>
                  <a:srgbClr val="D9D2C4"/>
                </a:solidFill>
                <a:latin typeface="Consolas" pitchFamily="49" charset="0"/>
                <a:cs typeface="Consolas" pitchFamily="49" charset="0"/>
              </a:rPr>
              <a:t xml:space="preserve">    Unpiv = Table.UnpivotOtherColumns(C2, {"Channel","Region"}, "Category", "Spend"),</a:t>
            </a:r>
          </a:p>
          <a:p>
            <a:pPr indent="0" marL="0">
              <a:lnSpc>
                <a:spcPct val="112000"/>
              </a:lnSpc>
              <a:buNone/>
            </a:pPr>
            <a:r>
              <a:rPr lang="en-US" sz="1000" dirty="0">
                <a:solidFill>
                  <a:srgbClr val="D9D2C4"/>
                </a:solidFill>
                <a:latin typeface="Consolas" pitchFamily="49" charset="0"/>
                <a:cs typeface="Consolas" pitchFamily="49" charset="0"/>
              </a:rPr>
              <a:t xml:space="preserve">    Grp = Table.Group(Unpiv, {"Channel"}, {{"Total Spend", each List.Sum([Spend])}})</a:t>
            </a:r>
          </a:p>
          <a:p>
            <a:pPr indent="0" marL="0">
              <a:lnSpc>
                <a:spcPct val="112000"/>
              </a:lnSpc>
              <a:buNone/>
            </a:pPr>
            <a:r>
              <a:rPr lang="en-US" sz="1000" dirty="0">
                <a:solidFill>
                  <a:srgbClr val="E6A93C"/>
                </a:solidFill>
                <a:latin typeface="Consolas" pitchFamily="49" charset="0"/>
                <a:cs typeface="Consolas" pitchFamily="49" charset="0"/>
              </a:rPr>
              <a:t xml:space="preserve">in</a:t>
            </a:r>
          </a:p>
          <a:p>
            <a:pPr indent="0" marL="0">
              <a:lnSpc>
                <a:spcPct val="112000"/>
              </a:lnSpc>
              <a:buNone/>
            </a:pPr>
            <a:r>
              <a:rPr lang="en-US" sz="1000" dirty="0">
                <a:solidFill>
                  <a:srgbClr val="D9D2C4"/>
                </a:solidFill>
                <a:latin typeface="Consolas" pitchFamily="49" charset="0"/>
                <a:cs typeface="Consolas" pitchFamily="49" charset="0"/>
              </a:rPr>
              <a:t xml:space="preserve">    Grp</a:t>
            </a:r>
          </a:p>
        </p:txBody>
      </p:sp>
      <p:sp>
        <p:nvSpPr>
          <p:cNvPr id="6" name="Annot"/>
          <p:cNvSpPr/>
          <p:nvPr/>
        </p:nvSpPr>
        <p:spPr>
          <a:xfrm>
            <a:off x="457200" y="4470000"/>
            <a:ext cx="8229600" cy="280000"/>
          </a:xfrm>
          <a:prstGeom prst="rect">
            <a:avLst/>
          </a:prstGeom>
          <a:noFill/>
          <a:ln/>
        </p:spPr>
        <p:txBody>
          <a:bodyPr wrap="square" lIns="0" tIns="0" rIns="0" bIns="0" rtlCol="0" anchor="ctr"/>
          <a:lstStyle/>
          <a:p>
            <a:pPr indent="0" marL="0">
              <a:buNone/>
            </a:pPr>
            <a:r>
              <a:rPr lang="en-US" sz="1100" dirty="0">
                <a:solidFill>
                  <a:srgbClr val="707070"/>
                </a:solidFill>
                <a:latin typeface="Arial" pitchFamily="34" charset="0"/>
                <a:ea typeface="Arial" pitchFamily="34" charset="-122"/>
                <a:cs typeface="Arial" pitchFamily="34" charset="-120"/>
              </a:rPr>
              <a:t>Powerful, but you own the output. Read it before you trust it; one bad line breaks the refresh.</a:t>
            </a:r>
            <a:endParaRPr lang="en-US" sz="1100" dirty="0"/>
          </a:p>
        </p:txBody>
      </p:sp>
      <p:sp>
        <p:nvSpPr>
          <p:cNvPr id="7" name="Footer"/>
          <p:cNvSpPr/>
          <p:nvPr/>
        </p:nvSpPr>
        <p:spPr>
          <a:xfrm>
            <a:off x="365760" y="480060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Arial" pitchFamily="34" charset="0"/>
                <a:ea typeface="Arial" pitchFamily="34" charset="-122"/>
                <a:cs typeface="Arial" pitchFamily="34" charset="-120"/>
              </a:rPr>
              <a:t>stringfestanalytics.com  ·  AI for Excel Demo Day  ·  10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Excel Demo Day</dc:title>
  <dc:subject>PptxGenJS Presentation</dc:subject>
  <dc:creator>George Mount — Stringfest Analytics</dc:creator>
  <cp:lastModifiedBy>George Mount — Stringfest Analytics</cp:lastModifiedBy>
  <cp:revision>1</cp:revision>
  <dcterms:created xsi:type="dcterms:W3CDTF">2026-05-24T16:36:02Z</dcterms:created>
  <dcterms:modified xsi:type="dcterms:W3CDTF">2026-05-24T16:36:02Z</dcterms:modified>
</cp:coreProperties>
</file>